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8" r:id="rId3"/>
    <p:sldId id="392" r:id="rId4"/>
    <p:sldId id="393" r:id="rId5"/>
    <p:sldId id="394" r:id="rId6"/>
    <p:sldId id="261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M" lastIdx="0" clrIdx="0"/>
  <p:cmAuthor id="2" name="Maria da Luz Velho VAZ" initials="MdLV" lastIdx="0" clrIdx="1"/>
  <p:cmAuthor id="3" name="Nelita Nassone" initials="NN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9BFB11-33C9-40FA-B488-D3D8038E58BD}" v="3" dt="2026-06-24T09:54:17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354" y="-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64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vao Timbana" userId="7ed9e01f-347d-41e7-8ac4-53e49369b88d" providerId="ADAL" clId="{C333D178-E2ED-4FA8-9CC0-19F94F3C9C94}"/>
    <pc:docChg chg="custSel addSld modSld modMainMaster">
      <pc:chgData name="Cristovao Timbana" userId="7ed9e01f-347d-41e7-8ac4-53e49369b88d" providerId="ADAL" clId="{C333D178-E2ED-4FA8-9CC0-19F94F3C9C94}" dt="2026-06-24T10:00:03.138" v="59" actId="22"/>
      <pc:docMkLst>
        <pc:docMk/>
      </pc:docMkLst>
      <pc:sldChg chg="delSp modSp mod">
        <pc:chgData name="Cristovao Timbana" userId="7ed9e01f-347d-41e7-8ac4-53e49369b88d" providerId="ADAL" clId="{C333D178-E2ED-4FA8-9CC0-19F94F3C9C94}" dt="2026-06-24T09:59:42.662" v="58" actId="21"/>
        <pc:sldMkLst>
          <pc:docMk/>
          <pc:sldMk cId="0" sldId="256"/>
        </pc:sldMkLst>
        <pc:spChg chg="del mod">
          <ac:chgData name="Cristovao Timbana" userId="7ed9e01f-347d-41e7-8ac4-53e49369b88d" providerId="ADAL" clId="{C333D178-E2ED-4FA8-9CC0-19F94F3C9C94}" dt="2026-06-24T09:59:42.662" v="58" actId="21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Cristovao Timbana" userId="7ed9e01f-347d-41e7-8ac4-53e49369b88d" providerId="ADAL" clId="{C333D178-E2ED-4FA8-9CC0-19F94F3C9C94}" dt="2026-06-24T09:54:44.357" v="55" actId="20577"/>
        <pc:sldMkLst>
          <pc:docMk/>
          <pc:sldMk cId="1593549140" sldId="258"/>
        </pc:sldMkLst>
        <pc:spChg chg="mod">
          <ac:chgData name="Cristovao Timbana" userId="7ed9e01f-347d-41e7-8ac4-53e49369b88d" providerId="ADAL" clId="{C333D178-E2ED-4FA8-9CC0-19F94F3C9C94}" dt="2026-06-24T09:54:44.357" v="55" actId="20577"/>
          <ac:spMkLst>
            <pc:docMk/>
            <pc:sldMk cId="1593549140" sldId="258"/>
            <ac:spMk id="8" creationId="{00000000-0000-0000-0000-000000000000}"/>
          </ac:spMkLst>
        </pc:spChg>
      </pc:sldChg>
      <pc:sldChg chg="add">
        <pc:chgData name="Cristovao Timbana" userId="7ed9e01f-347d-41e7-8ac4-53e49369b88d" providerId="ADAL" clId="{C333D178-E2ED-4FA8-9CC0-19F94F3C9C94}" dt="2026-06-24T09:54:53.266" v="56" actId="2890"/>
        <pc:sldMkLst>
          <pc:docMk/>
          <pc:sldMk cId="4195122623" sldId="393"/>
        </pc:sldMkLst>
      </pc:sldChg>
      <pc:sldChg chg="add">
        <pc:chgData name="Cristovao Timbana" userId="7ed9e01f-347d-41e7-8ac4-53e49369b88d" providerId="ADAL" clId="{C333D178-E2ED-4FA8-9CC0-19F94F3C9C94}" dt="2026-06-24T09:54:56.105" v="57" actId="2890"/>
        <pc:sldMkLst>
          <pc:docMk/>
          <pc:sldMk cId="2130286630" sldId="394"/>
        </pc:sldMkLst>
      </pc:sldChg>
      <pc:sldMasterChg chg="modSldLayout">
        <pc:chgData name="Cristovao Timbana" userId="7ed9e01f-347d-41e7-8ac4-53e49369b88d" providerId="ADAL" clId="{C333D178-E2ED-4FA8-9CC0-19F94F3C9C94}" dt="2026-06-24T10:00:03.138" v="59" actId="22"/>
        <pc:sldMasterMkLst>
          <pc:docMk/>
          <pc:sldMasterMk cId="0" sldId="2147483648"/>
        </pc:sldMasterMkLst>
        <pc:sldLayoutChg chg="addSp modSp mod">
          <pc:chgData name="Cristovao Timbana" userId="7ed9e01f-347d-41e7-8ac4-53e49369b88d" providerId="ADAL" clId="{C333D178-E2ED-4FA8-9CC0-19F94F3C9C94}" dt="2026-06-24T10:00:03.138" v="59" actId="22"/>
          <pc:sldLayoutMkLst>
            <pc:docMk/>
            <pc:sldMasterMk cId="0" sldId="2147483648"/>
            <pc:sldLayoutMk cId="0" sldId="2147483655"/>
          </pc:sldLayoutMkLst>
          <pc:spChg chg="mod">
            <ac:chgData name="Cristovao Timbana" userId="7ed9e01f-347d-41e7-8ac4-53e49369b88d" providerId="ADAL" clId="{C333D178-E2ED-4FA8-9CC0-19F94F3C9C94}" dt="2026-06-24T09:54:17.207" v="47"/>
            <ac:spMkLst>
              <pc:docMk/>
              <pc:sldMasterMk cId="0" sldId="2147483648"/>
              <pc:sldLayoutMk cId="0" sldId="2147483655"/>
              <ac:spMk id="6" creationId="{00000000-0000-0000-0000-000000000000}"/>
            </ac:spMkLst>
          </pc:spChg>
          <pc:spChg chg="add">
            <ac:chgData name="Cristovao Timbana" userId="7ed9e01f-347d-41e7-8ac4-53e49369b88d" providerId="ADAL" clId="{C333D178-E2ED-4FA8-9CC0-19F94F3C9C94}" dt="2026-06-24T10:00:03.138" v="59" actId="22"/>
            <ac:spMkLst>
              <pc:docMk/>
              <pc:sldMasterMk cId="0" sldId="2147483648"/>
              <pc:sldLayoutMk cId="0" sldId="2147483655"/>
              <ac:spMk id="8" creationId="{4E896824-9F5F-ECDD-06B3-0298E710BE34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207DB-BE02-4709-8EFD-924FD65357E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BBEE9-CA43-474A-A7EB-3C589B4B80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7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8CA9D-DD5A-43AB-8151-0F1378B4959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CB122-D5E8-4AC5-A36E-8A3F504BF3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43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39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1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Rectangle 10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7/1/2026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" name="TextBox 12"/>
          <p:cNvSpPr txBox="1"/>
          <p:nvPr userDrawn="1"/>
        </p:nvSpPr>
        <p:spPr>
          <a:xfrm>
            <a:off x="1653691" y="4293521"/>
            <a:ext cx="8884618" cy="861774"/>
          </a:xfrm>
          <a:prstGeom prst="rect">
            <a:avLst/>
          </a:prstGeom>
          <a:solidFill>
            <a:schemeClr val="accent3">
              <a:lumMod val="40000"/>
              <a:lumOff val="60000"/>
              <a:alpha val="19000"/>
            </a:schemeClr>
          </a:solidFill>
          <a:ln>
            <a:solidFill>
              <a:schemeClr val="tx1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lIns="0" tIns="0" rIns="0" bIns="0" rtlCol="0" anchor="t">
            <a:spAutoFit/>
          </a:bodyPr>
          <a:lstStyle/>
          <a:p>
            <a:pPr lvl="1" algn="ctr">
              <a:lnSpc>
                <a:spcPct val="100000"/>
              </a:lnSpc>
            </a:pP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Lema: </a:t>
            </a:r>
            <a:r>
              <a:rPr lang="pt-BR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Único Plano, Único Orçamento, Única Monitoria e Avaliação</a:t>
            </a:r>
            <a:endParaRPr lang="en-US" sz="2800" b="1" i="1" dirty="0" err="1">
              <a:solidFill>
                <a:schemeClr val="bg1"/>
              </a:solidFill>
              <a:latin typeface="Garet Bold Italics"/>
              <a:ea typeface="Garet Bold Italics"/>
              <a:cs typeface="Garet Bold Italics"/>
              <a:sym typeface="Garet Bold Italics"/>
            </a:endParaRPr>
          </a:p>
        </p:txBody>
      </p:sp>
      <p:sp>
        <p:nvSpPr>
          <p:cNvPr id="7" name="TextBox 11"/>
          <p:cNvSpPr txBox="1"/>
          <p:nvPr userDrawn="1"/>
        </p:nvSpPr>
        <p:spPr>
          <a:xfrm>
            <a:off x="4369248" y="6416554"/>
            <a:ext cx="3453504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2025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4351868" y="1473198"/>
            <a:ext cx="31841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4411744" y="1794928"/>
            <a:ext cx="26489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pic>
        <p:nvPicPr>
          <p:cNvPr id="12" name="Picture 11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35361"/>
            <a:ext cx="1266825" cy="790575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2123629" y="1593209"/>
            <a:ext cx="79447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>
              <a:defRPr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PT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 DA CIDADE</a:t>
            </a:r>
            <a:endParaRPr lang="pt-PT" alt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7" y="5539444"/>
            <a:ext cx="1249638" cy="12800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7" descr="C:\Users\DACUNHA\Pictures\image_preview.png">
            <a:extLst>
              <a:ext uri="{FF2B5EF4-FFF2-40B4-BE49-F238E27FC236}">
                <a16:creationId xmlns:a16="http://schemas.microsoft.com/office/drawing/2014/main" id="{7966F097-C494-9405-7026-9A44F68DBA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026" y="522190"/>
            <a:ext cx="1283948" cy="1010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E896824-9F5F-ECDD-06B3-0298E710BE34}"/>
              </a:ext>
            </a:extLst>
          </p:cNvPr>
          <p:cNvSpPr>
            <a:spLocks noGrp="1"/>
          </p:cNvSpPr>
          <p:nvPr userDrawn="1"/>
        </p:nvSpPr>
        <p:spPr>
          <a:xfrm>
            <a:off x="276225" y="3140425"/>
            <a:ext cx="11639550" cy="79362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Reunião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Planificação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Integrada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PESOE 2027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962BC6-A733-39D4-0B7D-1F1A97803A1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9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20000"/>
                <a:lumOff val="80000"/>
                <a:alpha val="16000"/>
              </a:schemeClr>
            </a:gs>
            <a:gs pos="9700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2DFC161-514C-445C-AF37-0AE5BFF5457E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0740269" y="4067175"/>
            <a:ext cx="1296987" cy="2790825"/>
            <a:chOff x="9206969" y="2963333"/>
            <a:chExt cx="2981858" cy="3208867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/>
          <p:cNvSpPr txBox="1">
            <a:spLocks noChangeArrowheads="1"/>
          </p:cNvSpPr>
          <p:nvPr/>
        </p:nvSpPr>
        <p:spPr bwMode="auto">
          <a:xfrm>
            <a:off x="1204119" y="5995030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Julho de 2026</a:t>
            </a:r>
            <a:endParaRPr lang="en-US" altLang="en-US" sz="2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585294" y="1255844"/>
            <a:ext cx="702141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SERIVOS DE REPRESENTAÇÃO DO ESTADO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 DA CIDADE</a:t>
            </a:r>
            <a:endParaRPr lang="pt-PT" alt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446" y="285750"/>
            <a:ext cx="1233109" cy="97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 txBox="1"/>
          <p:nvPr/>
        </p:nvSpPr>
        <p:spPr>
          <a:xfrm>
            <a:off x="1173481" y="3575878"/>
            <a:ext cx="9845039" cy="104749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PT" sz="4800" b="1" dirty="0">
                <a:solidFill>
                  <a:srgbClr val="DBEFF9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 da Reunião</a:t>
            </a:r>
            <a:endParaRPr lang="pt-BR" sz="4800" b="1" dirty="0">
              <a:solidFill>
                <a:srgbClr val="DBEFF9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54914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BR" dirty="0">
                <a:solidFill>
                  <a:schemeClr val="bg1"/>
                </a:solidFill>
                <a:cs typeface="Arial" panose="020B0604020202020204" pitchFamily="34" charset="0"/>
              </a:rPr>
              <a:t>Agenda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91F3182-E9B9-D5BA-8611-48AB4BBCA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631523"/>
              </p:ext>
            </p:extLst>
          </p:nvPr>
        </p:nvGraphicFramePr>
        <p:xfrm>
          <a:off x="204537" y="877829"/>
          <a:ext cx="10852484" cy="5858233"/>
        </p:xfrm>
        <a:graphic>
          <a:graphicData uri="http://schemas.openxmlformats.org/drawingml/2006/table">
            <a:tbl>
              <a:tblPr/>
              <a:tblGrid>
                <a:gridCol w="701633">
                  <a:extLst>
                    <a:ext uri="{9D8B030D-6E8A-4147-A177-3AD203B41FA5}">
                      <a16:colId xmlns:a16="http://schemas.microsoft.com/office/drawing/2014/main" val="935433752"/>
                    </a:ext>
                  </a:extLst>
                </a:gridCol>
                <a:gridCol w="1970884">
                  <a:extLst>
                    <a:ext uri="{9D8B030D-6E8A-4147-A177-3AD203B41FA5}">
                      <a16:colId xmlns:a16="http://schemas.microsoft.com/office/drawing/2014/main" val="2489075162"/>
                    </a:ext>
                  </a:extLst>
                </a:gridCol>
                <a:gridCol w="3691319">
                  <a:extLst>
                    <a:ext uri="{9D8B030D-6E8A-4147-A177-3AD203B41FA5}">
                      <a16:colId xmlns:a16="http://schemas.microsoft.com/office/drawing/2014/main" val="1015984439"/>
                    </a:ext>
                  </a:extLst>
                </a:gridCol>
                <a:gridCol w="1816131">
                  <a:extLst>
                    <a:ext uri="{9D8B030D-6E8A-4147-A177-3AD203B41FA5}">
                      <a16:colId xmlns:a16="http://schemas.microsoft.com/office/drawing/2014/main" val="1230892484"/>
                    </a:ext>
                  </a:extLst>
                </a:gridCol>
                <a:gridCol w="2672517">
                  <a:extLst>
                    <a:ext uri="{9D8B030D-6E8A-4147-A177-3AD203B41FA5}">
                      <a16:colId xmlns:a16="http://schemas.microsoft.com/office/drawing/2014/main" val="1615055611"/>
                    </a:ext>
                  </a:extLst>
                </a:gridCol>
              </a:tblGrid>
              <a:tr h="172466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Programa do Exercício Provincial de Planificação Integrada</a:t>
                      </a:r>
                    </a:p>
                  </a:txBody>
                  <a:tcPr marL="4249" marR="4249" marT="424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597751"/>
                  </a:ext>
                </a:extLst>
              </a:tr>
              <a:tr h="172466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4249" marR="4249" marT="424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MZ" sz="1200" b="1" i="0" u="none" strike="noStrike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49" marR="4249" marT="424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4249" marR="4249" marT="4249" marB="0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4249" marR="4249" marT="424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4249" marR="4249" marT="424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525332"/>
                  </a:ext>
                </a:extLst>
              </a:tr>
              <a:tr h="172466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Nr. Ord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MZ" sz="12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Actividade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Horas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Responsável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471636"/>
                  </a:ext>
                </a:extLst>
              </a:tr>
              <a:tr h="172466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Primeiro Dia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419424"/>
                  </a:ext>
                </a:extLst>
              </a:tr>
              <a:tr h="1724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Chegada e Registo dos participantes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Chegada e Registo dos participantes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11:00h - 11:05h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Protocolo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0016853"/>
                  </a:ext>
                </a:extLst>
              </a:tr>
              <a:tr h="1724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2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Entrada  do Presídium na Sala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Entrada  do Presídium na Sala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11:05h - 11:10h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Protocolo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7960"/>
                  </a:ext>
                </a:extLst>
              </a:tr>
              <a:tr h="1724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3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Hino Nacional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Hino Nacional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11:10h - 11:15h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Todos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270824"/>
                  </a:ext>
                </a:extLst>
              </a:tr>
              <a:tr h="3410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4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Contextualização, apresentação dos Objectivos e dos Participantes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Contextualização, apresentação dos Objectivos e dos Participantes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11:15h - 11:25h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Exma. Senhora Directora do Serviço de Saúde 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417979"/>
                  </a:ext>
                </a:extLst>
              </a:tr>
              <a:tr h="1736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5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Interven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çã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o do Parceiro do Primeiro Contacto 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Interven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çã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o do Parceiro do Primeiro Contacto 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11:25h - 11:30h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Lider das ONG's - AHF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01812"/>
                  </a:ext>
                </a:extLst>
              </a:tr>
              <a:tr h="5095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6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Sessão de Abertura</a:t>
                      </a:r>
                      <a:endParaRPr lang="pt-MZ" sz="1200" b="0" i="0" u="none" strike="noStrike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Sessão de Abertura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11:30h - 11:45h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Exma. Senhora Directora do Gabinete do Secretário do Estado 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136813"/>
                  </a:ext>
                </a:extLst>
              </a:tr>
              <a:tr h="2731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7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Apresentação da agenda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Apresentação da agenda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11:45h- 11:55h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MC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485203"/>
                  </a:ext>
                </a:extLst>
              </a:tr>
              <a:tr h="3410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8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Apresentação do Grau de Cumprimento das Recomenda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çõ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es da V Reuni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ã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o de Planifica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çã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o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Apresentação do Grau de Cumprimento das Recomenda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çõ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es da V Reuni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ã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o de Planifica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çã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o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11:55h- 12:10h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DEPC: Responsável do Sector de Planifica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çã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o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294672"/>
                  </a:ext>
                </a:extLst>
              </a:tr>
              <a:tr h="2731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9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Discussão 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Discussão 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12:10h- 12:20h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Todos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919589"/>
                  </a:ext>
                </a:extLst>
              </a:tr>
              <a:tr h="3410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10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Ge</a:t>
                      </a:r>
                      <a:r>
                        <a:rPr lang="pt-P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s</a:t>
                      </a:r>
                      <a:r>
                        <a:rPr lang="pt-MZ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t</a:t>
                      </a:r>
                      <a:r>
                        <a:rPr lang="pt-MZ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ã</a:t>
                      </a:r>
                      <a:r>
                        <a:rPr lang="pt-MZ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o e Lideran</a:t>
                      </a:r>
                      <a:r>
                        <a:rPr lang="pt-MZ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ç</a:t>
                      </a:r>
                      <a:r>
                        <a:rPr lang="pt-MZ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a 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Get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ã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o e Lideran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ç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a 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12:20h- 12:35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DRH: Chefe do Departamento de Recursos Humanos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364526"/>
                  </a:ext>
                </a:extLst>
              </a:tr>
              <a:tr h="3410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11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Apresentação dos resultados do CFDMP 2027-2029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Apresentação dos resultados do CFDMP 2027-2029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12:35h- 13:15h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DRH: Chefe do Departamento de Planifica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çã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o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115973"/>
                  </a:ext>
                </a:extLst>
              </a:tr>
              <a:tr h="1724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12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Discussão 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Discussão 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13:15h- 13:30h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Todos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833606"/>
                  </a:ext>
                </a:extLst>
              </a:tr>
              <a:tr h="1736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13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Apresentação da metodologia de elaboração do PESOE 202</a:t>
                      </a:r>
                      <a:r>
                        <a:rPr lang="pt-PT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7</a:t>
                      </a:r>
                      <a:endParaRPr lang="pt-MZ" sz="1200" b="0" i="0" u="none" strike="noStrike">
                        <a:solidFill>
                          <a:schemeClr val="bg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Apresentação da metodologia de elaboração do PESOE 2026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13:30h- 13:50h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Representante do SEF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590013"/>
                  </a:ext>
                </a:extLst>
              </a:tr>
              <a:tr h="1724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14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Discussão 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Discussão 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13:50h- 14:25h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Todos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378959"/>
                  </a:ext>
                </a:extLst>
              </a:tr>
              <a:tr h="34101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15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Desafios e oportunidades na arrecadação de receitas em contexto de défice orçamental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Desafios e oportunidades na arrecadação de receitas em contexto de défice orçamental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14:25h- 15:30h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Moderador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: Chefe do Departamento de Planificação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389446"/>
                  </a:ext>
                </a:extLst>
              </a:tr>
              <a:tr h="509566">
                <a:tc v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Oradores</a:t>
                      </a:r>
                      <a:r>
                        <a:rPr lang="pt-MZ" sz="1200" b="0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: CEM: Alberto Muando, CHA: Gabriel Alifa, HGCH: Isaura Malate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83397"/>
                  </a:ext>
                </a:extLst>
              </a:tr>
              <a:tr h="3410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16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Fim dos trabalhos do primeiro dia e Almoço</a:t>
                      </a:r>
                    </a:p>
                  </a:txBody>
                  <a:tcPr marL="4249" marR="4249" marT="424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Fim dos trabalhos do primeiro dia e Almoço</a:t>
                      </a:r>
                    </a:p>
                  </a:txBody>
                  <a:tcPr marL="4249" marR="4249" marT="424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15:30h - 16:00h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MZ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Bookman Old Style" panose="02050604050505020204" pitchFamily="18" charset="0"/>
                        </a:rPr>
                        <a:t>Exma. Senhora Directora SSCM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819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3320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7976-80F1-5915-8254-CAF88523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6F0FF8-AD56-F256-E0C3-F45B7151B59B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BR" dirty="0">
                <a:solidFill>
                  <a:schemeClr val="bg1"/>
                </a:solidFill>
                <a:cs typeface="Arial" panose="020B0604020202020204" pitchFamily="34" charset="0"/>
              </a:rPr>
              <a:t>Agenda</a:t>
            </a: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6E237882-38E6-1A84-ECC0-648099C86B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693308"/>
              </p:ext>
            </p:extLst>
          </p:nvPr>
        </p:nvGraphicFramePr>
        <p:xfrm>
          <a:off x="94786" y="1034715"/>
          <a:ext cx="11347246" cy="5293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648589" imgH="3343122" progId="Excel.Sheet.12">
                  <p:embed/>
                </p:oleObj>
              </mc:Choice>
              <mc:Fallback>
                <p:oleObj name="Worksheet" r:id="rId2" imgW="7648589" imgH="334312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786" y="1034715"/>
                        <a:ext cx="11347246" cy="5293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512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CE109-018F-91E4-1B2F-C0D33F4DD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31C6384-2FC1-1791-932E-01958C6FBA32}"/>
              </a:ext>
            </a:extLst>
          </p:cNvPr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pt-BR" dirty="0">
                <a:solidFill>
                  <a:schemeClr val="bg1"/>
                </a:solidFill>
                <a:cs typeface="Arial" panose="020B0604020202020204" pitchFamily="34" charset="0"/>
              </a:rPr>
              <a:t>Agenda</a:t>
            </a: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800BD32C-0191-1A36-599C-682814427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560770"/>
              </p:ext>
            </p:extLst>
          </p:nvPr>
        </p:nvGraphicFramePr>
        <p:xfrm>
          <a:off x="120316" y="1004644"/>
          <a:ext cx="11093116" cy="5773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648589" imgH="4848394" progId="Excel.Sheet.12">
                  <p:embed/>
                </p:oleObj>
              </mc:Choice>
              <mc:Fallback>
                <p:oleObj name="Worksheet" r:id="rId2" imgW="7648589" imgH="484839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0316" y="1004644"/>
                        <a:ext cx="11093116" cy="5773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0286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5024" y="2766377"/>
            <a:ext cx="9441951" cy="1325245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 algn="ctr" fontAlgn="base">
              <a:spcAft>
                <a:spcPct val="0"/>
              </a:spcAft>
            </a:pPr>
            <a:r>
              <a:rPr lang="pt-PT" sz="4800" b="1" dirty="0">
                <a:solidFill>
                  <a:srgbClr val="DBEFF9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Muito obrigado!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1122</TotalTime>
  <Words>277</Words>
  <Application>Microsoft Office PowerPoint</Application>
  <PresentationFormat>Ecrã Panorâmico</PresentationFormat>
  <Paragraphs>86</Paragraphs>
  <Slides>6</Slides>
  <Notes>1</Notes>
  <HiddenSlides>0</HiddenSlides>
  <MMClips>0</MMClips>
  <ScaleCrop>false</ScaleCrop>
  <HeadingPairs>
    <vt:vector size="8" baseType="variant">
      <vt:variant>
        <vt:lpstr>Tipos de letra usados</vt:lpstr>
      </vt:variant>
      <vt:variant>
        <vt:i4>10</vt:i4>
      </vt:variant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18" baseType="lpstr">
      <vt:lpstr>Aptos</vt:lpstr>
      <vt:lpstr>Aptos Narrow</vt:lpstr>
      <vt:lpstr>Arial</vt:lpstr>
      <vt:lpstr>Arial Narrow</vt:lpstr>
      <vt:lpstr>Bookman Old Style</vt:lpstr>
      <vt:lpstr>Century Gothic</vt:lpstr>
      <vt:lpstr>Garet Bold</vt:lpstr>
      <vt:lpstr>Garet Bold Italics</vt:lpstr>
      <vt:lpstr>Times New Roman</vt:lpstr>
      <vt:lpstr>Wingdings 3</vt:lpstr>
      <vt:lpstr>Slice</vt:lpstr>
      <vt:lpstr>Folha de Cálculo do Microsoft Excel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Muito 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Maulana José Afonso</cp:lastModifiedBy>
  <cp:revision>129</cp:revision>
  <dcterms:created xsi:type="dcterms:W3CDTF">2025-07-14T08:03:00Z</dcterms:created>
  <dcterms:modified xsi:type="dcterms:W3CDTF">2026-07-01T09:26:13Z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