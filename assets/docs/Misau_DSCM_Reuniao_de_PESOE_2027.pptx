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394" r:id="rId4"/>
    <p:sldId id="393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261" r:id="rId18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M" lastIdx="0" clrIdx="0"/>
  <p:cmAuthor id="2" name="Maria da Luz Velho VAZ" initials="MdLV" lastIdx="0" clrIdx="1"/>
  <p:cmAuthor id="3" name="Nelita Nassone" initials="NN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BFB11-33C9-40FA-B488-D3D8038E58BD}" v="3" dt="2026-06-24T09:54:17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64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207DB-BE02-4709-8EFD-924FD65357E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BEE9-CA43-474A-A7EB-3C589B4B80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7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8CA9D-DD5A-43AB-8151-0F1378B4959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CB122-D5E8-4AC5-A36E-8A3F504BF3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4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9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1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Rectangle 10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" name="TextBox 12"/>
          <p:cNvSpPr txBox="1"/>
          <p:nvPr userDrawn="1"/>
        </p:nvSpPr>
        <p:spPr>
          <a:xfrm>
            <a:off x="1653691" y="4293521"/>
            <a:ext cx="8884618" cy="861774"/>
          </a:xfrm>
          <a:prstGeom prst="rect">
            <a:avLst/>
          </a:prstGeom>
          <a:solidFill>
            <a:schemeClr val="accent3">
              <a:lumMod val="40000"/>
              <a:lumOff val="60000"/>
              <a:alpha val="19000"/>
            </a:schemeClr>
          </a:solidFill>
          <a:ln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lIns="0" tIns="0" rIns="0" bIns="0" rtlCol="0" anchor="t">
            <a:spAutoFit/>
          </a:bodyPr>
          <a:lstStyle/>
          <a:p>
            <a:pPr lvl="1" algn="ctr">
              <a:lnSpc>
                <a:spcPct val="100000"/>
              </a:lnSpc>
            </a:pP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Lema: </a:t>
            </a:r>
            <a:r>
              <a:rPr lang="pt-BR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Único Plano, Único Orçamento, Única Monitoria e Avaliação</a:t>
            </a:r>
            <a:endParaRPr lang="en-US" sz="2800" b="1" i="1" dirty="0" err="1">
              <a:solidFill>
                <a:schemeClr val="bg1"/>
              </a:solidFill>
              <a:latin typeface="Garet Bold Italics"/>
              <a:ea typeface="Garet Bold Italics"/>
              <a:cs typeface="Garet Bold Italics"/>
              <a:sym typeface="Garet Bold Italics"/>
            </a:endParaRPr>
          </a:p>
        </p:txBody>
      </p:sp>
      <p:sp>
        <p:nvSpPr>
          <p:cNvPr id="7" name="TextBox 11"/>
          <p:cNvSpPr txBox="1"/>
          <p:nvPr userDrawn="1"/>
        </p:nvSpPr>
        <p:spPr>
          <a:xfrm>
            <a:off x="4369248" y="6416554"/>
            <a:ext cx="3453504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2025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4351868" y="1473198"/>
            <a:ext cx="3184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411744" y="1794928"/>
            <a:ext cx="2648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pic>
        <p:nvPicPr>
          <p:cNvPr id="12" name="Picture 11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35361"/>
            <a:ext cx="1266825" cy="790575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123629" y="1593209"/>
            <a:ext cx="79447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>
              <a:defRPr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 DA CIDADE</a:t>
            </a:r>
            <a:endParaRPr lang="pt-PT" alt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7" y="5539444"/>
            <a:ext cx="1249638" cy="12800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7" descr="C:\Users\DACUNHA\Pictures\image_preview.png">
            <a:extLst>
              <a:ext uri="{FF2B5EF4-FFF2-40B4-BE49-F238E27FC236}">
                <a16:creationId xmlns:a16="http://schemas.microsoft.com/office/drawing/2014/main" id="{7966F097-C494-9405-7026-9A44F68DBA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026" y="522190"/>
            <a:ext cx="1283948" cy="1010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E896824-9F5F-ECDD-06B3-0298E710BE34}"/>
              </a:ext>
            </a:extLst>
          </p:cNvPr>
          <p:cNvSpPr>
            <a:spLocks noGrp="1"/>
          </p:cNvSpPr>
          <p:nvPr userDrawn="1"/>
        </p:nvSpPr>
        <p:spPr>
          <a:xfrm>
            <a:off x="276225" y="3140425"/>
            <a:ext cx="11639550" cy="79362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Reunião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Planificação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Integrada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PESOE 2027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962BC6-A733-39D4-0B7D-1F1A97803A1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9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20000"/>
                <a:lumOff val="80000"/>
                <a:alpha val="16000"/>
              </a:schemeClr>
            </a:gs>
            <a:gs pos="9700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2DFC161-514C-445C-AF37-0AE5BFF5457E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0740269" y="4067175"/>
            <a:ext cx="1296987" cy="2790825"/>
            <a:chOff x="9206969" y="2963333"/>
            <a:chExt cx="2981858" cy="3208867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 txBox="1">
            <a:spLocks noChangeArrowheads="1"/>
          </p:cNvSpPr>
          <p:nvPr/>
        </p:nvSpPr>
        <p:spPr bwMode="auto">
          <a:xfrm>
            <a:off x="1204119" y="5995030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Julho de 2026</a:t>
            </a:r>
            <a:endParaRPr lang="en-US" altLang="en-US" sz="2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585294" y="1255844"/>
            <a:ext cx="70214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SERIVOS DE REPRESENTAÇÃO DO ESTADO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 DA CIDADE</a:t>
            </a:r>
            <a:endParaRPr lang="pt-PT" alt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446" y="285750"/>
            <a:ext cx="1233109" cy="97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1204119" y="3620267"/>
            <a:ext cx="9845039" cy="104749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PT" sz="2800" b="1" dirty="0">
                <a:solidFill>
                  <a:srgbClr val="DBEFF9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PRIORIDADES E ACÇÕES ESTRATÉGICAS PARA 2027</a:t>
            </a:r>
            <a:endParaRPr lang="pt-BR" sz="2800" b="1" dirty="0">
              <a:solidFill>
                <a:srgbClr val="DBEFF9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54914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E109-018F-91E4-1B2F-C0D33F4DD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31C6384-2FC1-1791-932E-01958C6FBA32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Conteúdo de apresentação </a:t>
            </a:r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702527"/>
            <a:ext cx="10515600" cy="3877056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Objectivo de apresentação</a:t>
            </a:r>
          </a:p>
          <a:p>
            <a:pPr lvl="1">
              <a:lnSpc>
                <a:spcPct val="15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Enquadramento </a:t>
            </a:r>
          </a:p>
          <a:p>
            <a:pPr lvl="1">
              <a:lnSpc>
                <a:spcPct val="15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Instrumentos orientadores </a:t>
            </a:r>
          </a:p>
          <a:p>
            <a:pPr lvl="1">
              <a:lnSpc>
                <a:spcPct val="15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 </a:t>
            </a:r>
          </a:p>
          <a:p>
            <a:pPr lvl="1">
              <a:lnSpc>
                <a:spcPct val="15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Proposta de prioridades e acções estratégicas 2027</a:t>
            </a:r>
          </a:p>
          <a:p>
            <a:pPr lvl="1">
              <a:lnSpc>
                <a:spcPct val="15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286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Enquadramento</a:t>
            </a:r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59536" y="1673352"/>
            <a:ext cx="10494264" cy="3785615"/>
          </a:xfrm>
          <a:ln>
            <a:solidFill>
              <a:schemeClr val="accent1"/>
            </a:solidFill>
          </a:ln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Ministério da Saúde é o Órgão Central do Aparelho do Estado que de acordo com os princípios, objectivos e tarefas definidas pelo governo, dirige, planifica e assegura a execução da legislação e políticas de saúde do Sistema Nacional de saúde (SiNS). </a:t>
            </a:r>
          </a:p>
          <a:p>
            <a:pPr algn="just">
              <a:lnSpc>
                <a:spcPct val="15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presente trabalho enquadra-se na implementação do diploma ministerial nº 79/2019, que aprova o regulamento interno do Ministério da Saúde, com realce para o artigo 120 alínea iv) que refere o uso de normas e metodologias gerais do sistema de planificação sectorial e nacional.</a:t>
            </a:r>
            <a:endParaRPr lang="en-GB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12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PT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Instrumentos orientadores</a:t>
            </a:r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45388" y="1777043"/>
            <a:ext cx="10508411" cy="3761115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algn="just"/>
            <a:endParaRPr lang="pt-P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Estratégia Nacional de Desenvolvimento 2025-2044;</a:t>
            </a:r>
          </a:p>
          <a:p>
            <a:pPr algn="just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PQG 2025-2029; </a:t>
            </a:r>
          </a:p>
          <a:p>
            <a:pPr algn="just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Rascunho do PESS 2026-2026 em elaboração;</a:t>
            </a:r>
          </a:p>
          <a:p>
            <a:pPr algn="just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Balanço de desempenho do sector 2025;</a:t>
            </a:r>
          </a:p>
          <a:p>
            <a:pPr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Guião de orientações metodológicas para elaboração de instrumentos de planificação, orçamentação, monitoria e avaliação;</a:t>
            </a:r>
          </a:p>
          <a:p>
            <a:pPr algn="just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Guião de planificação do sector em elaboração</a:t>
            </a:r>
          </a:p>
          <a:p>
            <a:pPr algn="just"/>
            <a:endParaRPr lang="pt-P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574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 aplicada</a:t>
            </a:r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155448" y="1243584"/>
            <a:ext cx="2423160" cy="491947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PT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 aplicada com vista a definição e validação técnica da proposta das prioridades e acções estratégicas para 2027 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035267" y="1127893"/>
            <a:ext cx="9851931" cy="5035163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1º.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Elaboração da proposta de acções estratégicas preliminar pelas Unidades Orgânicas;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2º. 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Discussão das propostas preliminar de acções estratégicas com as Unidades Orgânicas;  </a:t>
            </a: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3º. 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Harmonização das acções estratégicas pela equipa técnica do DPES;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4º.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Realização do exercício de planificação com as províncias e unidades orgânicas para: </a:t>
            </a:r>
          </a:p>
          <a:p>
            <a:pPr lvl="1" algn="just">
              <a:lnSpc>
                <a:spcPct val="10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apresentação e discussão dos principais indicadores do balanço desempenho do sector 2025; </a:t>
            </a:r>
          </a:p>
          <a:p>
            <a:pPr lvl="1" algn="just">
              <a:lnSpc>
                <a:spcPct val="10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 das prioridades e acções estratégicas 2027;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5º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Trabalhos em grupo (províncias e unidades orgânicas) para revisão, análise e harmonização das acções estratégicas;</a:t>
            </a:r>
          </a:p>
          <a:p>
            <a:pPr lvl="1" algn="just">
              <a:lnSpc>
                <a:spcPct val="10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Apresentação e discussões em plenária das propostas técnicas de prioridades e acções estratégicas;</a:t>
            </a:r>
          </a:p>
          <a:p>
            <a:pPr lvl="1" algn="just">
              <a:lnSpc>
                <a:spcPct val="10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Alinhamento das propostas técnicas de acções estratégicas do nível central com as contribuições das províncias.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6º.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Apresentação da proposta técnica harmonizada no colectivo da DPC para análise e revisão;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7º.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Reunião virtual com as províncias para apresentação da proposta preliminar com as províncias;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8º. 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Apresentação da proposta técnica harmonizada Conselho Técnico para análise, revisão e consolidação;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9º.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Reunião</a:t>
            </a: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</a:t>
            </a:r>
            <a:r>
              <a:rPr lang="pt-BR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Oficiais de Cooperação das Embaixadas e Agências e os parceiros de implementação 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apresentação dos resultados do exercício de planificação e discussão das prioridades e acções estratégicas;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10º.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Apresentação da proposta técnica harmonizada aos Directores da Unidades Orgânicas para análise, revisão e consolidação;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PT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11º.</a:t>
            </a:r>
            <a:r>
              <a:rPr lang="pt-PT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Apresentação da proposta técnica harmonizada ao Conselho Técnico para análise, revisão e consolidação;</a:t>
            </a:r>
          </a:p>
        </p:txBody>
      </p:sp>
    </p:spTree>
    <p:extLst>
      <p:ext uri="{BB962C8B-B14F-4D97-AF65-F5344CB8AC3E}">
        <p14:creationId xmlns:p14="http://schemas.microsoft.com/office/powerpoint/2010/main" val="3103511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Resumo da proposta de prioridades 2027</a:t>
            </a:r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75488" y="941832"/>
            <a:ext cx="10872216" cy="5586984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857250" lvl="1" indent="-400050">
              <a:buClr>
                <a:schemeClr val="bg1"/>
              </a:buClr>
              <a:buFont typeface="+mj-lt"/>
              <a:buAutoNum type="romanUcPeriod"/>
            </a:pPr>
            <a:r>
              <a:rPr lang="pt-B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Reforço do Sistema de Saúde</a:t>
            </a:r>
            <a:r>
              <a:rPr lang="pt-B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 foco na: </a:t>
            </a:r>
          </a:p>
          <a:p>
            <a:pPr marL="1257300" lvl="2" indent="-342900">
              <a:buClr>
                <a:schemeClr val="bg1"/>
              </a:buClr>
              <a:buFont typeface="+mj-lt"/>
              <a:buAutoNum type="alphaLcPeriod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Consolidar o quadro regulatório,  a boa governação promovendo anticorrupção, liderança ética e coordenação intersectorial;</a:t>
            </a:r>
          </a:p>
          <a:p>
            <a:pPr marL="1257300" lvl="2" indent="-342900">
              <a:buClr>
                <a:schemeClr val="bg1"/>
              </a:buClr>
              <a:buFont typeface="+mj-lt"/>
              <a:buAutoNum type="alphaLcPeriod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Diversificação do financiamento, assegurando a integração, sustentabilidade, previsibilidade e eficiência na alocação de recursos;</a:t>
            </a:r>
          </a:p>
          <a:p>
            <a:pPr marL="1257300" lvl="2" indent="-342900">
              <a:buClr>
                <a:schemeClr val="bg1"/>
              </a:buClr>
              <a:buFont typeface="+mj-lt"/>
              <a:buAutoNum type="alphaLcPeriod"/>
            </a:pPr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Fortalecimento da logística e disponibilidade de medicamentos;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Clr>
                <a:schemeClr val="bg1"/>
              </a:buClr>
              <a:buFont typeface="+mj-lt"/>
              <a:buAutoNum type="alphaLcPeriod"/>
            </a:pPr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Prestação dos serviços de saúde integrados e de qualidade, centrados nas necessidades da população;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Clr>
                <a:schemeClr val="bg1"/>
              </a:buClr>
              <a:buFont typeface="+mj-lt"/>
              <a:buAutoNum type="alphaLcPeriod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Implementação da Planificação Integrada, em conformidade com o princípio de Único Plano, Único Orçamento e Única Monitoria e Avaliação;</a:t>
            </a:r>
          </a:p>
          <a:p>
            <a:pPr marL="1257300" lvl="2" indent="-342900">
              <a:buClr>
                <a:schemeClr val="bg1"/>
              </a:buClr>
              <a:buFont typeface="+mj-lt"/>
              <a:buAutoNum type="alphaLcPeriod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Reforço da pesquisa e a capacidade de análise de evidências, para fundamentar a tomada de decisão.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00050" algn="just">
              <a:buClr>
                <a:schemeClr val="bg1"/>
              </a:buClr>
              <a:buFont typeface="+mj-lt"/>
              <a:buAutoNum type="romanUcPeriod"/>
            </a:pPr>
            <a:r>
              <a:rPr lang="pt-B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Reforço da saúde materna, neonatal, infantil e do adolescente e da nutrição</a:t>
            </a:r>
            <a:r>
              <a:rPr lang="pt-B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57250" lvl="1" indent="-400050" algn="just">
              <a:buClr>
                <a:schemeClr val="bg1"/>
              </a:buClr>
              <a:buFont typeface="+mj-lt"/>
              <a:buAutoNum type="romanUcPeriod"/>
            </a:pPr>
            <a:r>
              <a:rPr lang="pt-B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Consolidação dos cuidados de saúde primários de qualidade, com foco na expansão da rede sanitária e do subsistema comunitário;</a:t>
            </a:r>
          </a:p>
          <a:p>
            <a:pPr marL="857250" lvl="1" indent="-400050" algn="just">
              <a:buClr>
                <a:schemeClr val="bg1"/>
              </a:buClr>
              <a:buFont typeface="+mj-lt"/>
              <a:buAutoNum type="romanUcPeriod"/>
            </a:pPr>
            <a:r>
              <a:rPr lang="pt-B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Fortalecer a resposta às doenças transmissíveis e não transmissíveis, incluindo o trauma;</a:t>
            </a:r>
          </a:p>
          <a:p>
            <a:pPr marL="857250" lvl="1" indent="-400050">
              <a:buClr>
                <a:schemeClr val="bg1"/>
              </a:buClr>
              <a:buFont typeface="+mj-lt"/>
              <a:buAutoNum type="romanUcPeriod"/>
            </a:pPr>
            <a:r>
              <a:rPr lang="pt-B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Reforço da capacidade de resposta assistencial e segurança do paciente nas US; </a:t>
            </a:r>
          </a:p>
          <a:p>
            <a:pPr marL="857250" lvl="1" indent="-400050" algn="just">
              <a:buClr>
                <a:schemeClr val="bg1"/>
              </a:buClr>
              <a:buFont typeface="+mj-lt"/>
              <a:buAutoNum type="romanUcPeriod"/>
            </a:pPr>
            <a:r>
              <a:rPr lang="pt-B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Reforço da capacidade de resposta a emergências em saúde pública.</a:t>
            </a:r>
          </a:p>
        </p:txBody>
      </p:sp>
    </p:spTree>
    <p:extLst>
      <p:ext uri="{BB962C8B-B14F-4D97-AF65-F5344CB8AC3E}">
        <p14:creationId xmlns:p14="http://schemas.microsoft.com/office/powerpoint/2010/main" val="3689152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Reforço do Sistema de Saúde</a:t>
            </a:r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Right Arrow Callout 5"/>
          <p:cNvSpPr/>
          <p:nvPr/>
        </p:nvSpPr>
        <p:spPr>
          <a:xfrm>
            <a:off x="362358" y="1234440"/>
            <a:ext cx="1201266" cy="5047488"/>
          </a:xfrm>
          <a:prstGeom prst="rightArrowCallou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PT" sz="3000" b="1" dirty="0"/>
              <a:t>Acções estratégicas</a:t>
            </a:r>
            <a:endParaRPr lang="en-GB" sz="3000" b="1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563623" y="877824"/>
            <a:ext cx="9806741" cy="5404104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00000"/>
              </a:lnSpc>
              <a:spcBef>
                <a:spcPts val="0"/>
              </a:spcBef>
              <a:defRPr/>
            </a:pPr>
            <a:endParaRPr lang="pt-P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defRPr/>
            </a:pPr>
            <a:endParaRPr lang="pt-P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defRPr/>
            </a:pPr>
            <a:endParaRPr lang="pt-P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defRPr/>
            </a:pPr>
            <a:endParaRPr lang="pt-P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defRPr/>
            </a:pPr>
            <a:endParaRPr lang="pt-P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defRPr/>
            </a:pPr>
            <a:endParaRPr lang="pt-P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defRPr/>
            </a:pPr>
            <a:endParaRPr lang="pt-P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defRPr/>
            </a:pPr>
            <a:endParaRPr lang="pt-P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defRPr/>
            </a:pPr>
            <a:endParaRPr lang="pt-P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Consolidar o </a:t>
            </a:r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quadro regulatório,  a boa governação, promovendo anticorrupção, liderança ética e coordenação intersectorial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Implementar a Planificação Integrada, em conformidade com o princípio de Único Plano, Único Orçamento e Única Monitoria e Avaliação;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Diversificar o financiamento, assegurando, a integração, sustentabilidade, previsibilidade e eficiência na alocação de recursos;</a:t>
            </a:r>
            <a:endParaRPr lang="pt-B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Digitalizar os processos de gestão das Unidades Sanitárias;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Fortalecer a capacidade de gestão e planificação, SIS e M&amp;A em todos os níveis do sistema de saúde;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Assegurar a sustentabilidade  financeira e transparência na utilização dos recursos;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Implementar o SIS-RME e a melhoria da qualidade de dados;</a:t>
            </a:r>
            <a:endParaRPr lang="pt-P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Prestar serviços de saúde integrados e de qualidade, centrados nas necessidades da população;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Reforçar a pesquisa e a capacidade de análise de evidências, para fundamentar a tomada de decisão;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defRPr/>
            </a:pPr>
            <a:endParaRPr lang="pt-BR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  <a:p>
            <a:pPr marL="285750" lvl="0" indent="-285750" algn="just">
              <a:lnSpc>
                <a:spcPct val="150000"/>
              </a:lnSpc>
              <a:spcBef>
                <a:spcPts val="0"/>
              </a:spcBef>
              <a:defRPr/>
            </a:pPr>
            <a:endParaRPr lang="pt-B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spcBef>
                <a:spcPts val="0"/>
              </a:spcBef>
              <a:defRPr/>
            </a:pPr>
            <a:endParaRPr lang="pt-PT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spcBef>
                <a:spcPts val="0"/>
              </a:spcBef>
              <a:defRPr/>
            </a:pPr>
            <a:endParaRPr lang="en-GB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defRPr/>
            </a:pPr>
            <a:endParaRPr lang="pt-B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spcBef>
                <a:spcPts val="0"/>
              </a:spcBef>
              <a:defRPr/>
            </a:pPr>
            <a:endParaRPr lang="en-GB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8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Reforço da saúde materna, neonatal, infantil e do adolescente e da nutrição, com foco na redução da mortalidade materna</a:t>
            </a:r>
            <a:endParaRPr lang="pt-BR" sz="1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Right Arrow Callout 7"/>
          <p:cNvSpPr/>
          <p:nvPr/>
        </p:nvSpPr>
        <p:spPr>
          <a:xfrm>
            <a:off x="133758" y="1128713"/>
            <a:ext cx="1082394" cy="4986337"/>
          </a:xfrm>
          <a:prstGeom prst="rightArrowCallou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PT" sz="3000" b="1" dirty="0"/>
              <a:t>Acções estratégicas</a:t>
            </a:r>
            <a:endParaRPr lang="en-GB" sz="3000" b="1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252728" y="1124712"/>
            <a:ext cx="10296144" cy="5018913"/>
          </a:xfrm>
          <a:ln>
            <a:solidFill>
              <a:srgbClr val="00B0F0"/>
            </a:solidFill>
          </a:ln>
        </p:spPr>
        <p:txBody>
          <a:bodyPr>
            <a:noAutofit/>
          </a:bodyPr>
          <a:lstStyle/>
          <a:p>
            <a:pPr marL="285750" lvl="0" indent="-285750">
              <a:lnSpc>
                <a:spcPct val="170000"/>
              </a:lnSpc>
              <a:spcBef>
                <a:spcPts val="0"/>
              </a:spcBef>
              <a:defRPr/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70000"/>
              </a:lnSpc>
              <a:spcBef>
                <a:spcPts val="0"/>
              </a:spcBef>
              <a:defRPr/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Reforçar a qualidade da Atenção Pré‑Natal, Parto e Pós‑Parto;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Reforçar a prestação e a utilização dos serviços essenciais de saúde neonatal, infantil para melhoria da qualidade da atenção neonatal e infantil</a:t>
            </a:r>
            <a:endParaRPr lang="pt-P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Expandir os Serviços de Planeamento Familiar e Saúde Reprodutiva;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Melhorar a qualidade de assistência do recém-nascido (na primeira infância);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Promover a educação nutricional 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reduzir a desnutrição aguda em crianças menores de 5 anos,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incentivar hábitos e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ambientes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alimentares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saudáveis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Promover a oferta do Pacote de Intervenções de Nutrição a crianças menores de 2 anos de idade;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Incentivar suplementação com vitamina A e MNP em crianças menores de 5 anos</a:t>
            </a:r>
            <a:endParaRPr lang="pt-P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Promover o aleitamento materno exclusivo.</a:t>
            </a:r>
          </a:p>
          <a:p>
            <a:pPr marL="285750" lvl="0" indent="-285750">
              <a:lnSpc>
                <a:spcPct val="170000"/>
              </a:lnSpc>
              <a:spcBef>
                <a:spcPts val="0"/>
              </a:spcBef>
              <a:defRPr/>
            </a:pPr>
            <a:endParaRPr lang="en-GB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70000"/>
              </a:lnSpc>
              <a:spcBef>
                <a:spcPts val="0"/>
              </a:spcBef>
              <a:defRPr/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70000"/>
              </a:lnSpc>
              <a:spcBef>
                <a:spcPts val="0"/>
              </a:spcBef>
              <a:defRPr/>
            </a:pPr>
            <a:endParaRPr lang="en-GB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323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Consolidação dos cuidados de saúde primários, com foco na expansão da rede sanitária e do subsistema comunitário</a:t>
            </a:r>
            <a:endParaRPr lang="pt-BR" sz="2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Right Arrow Callout 5"/>
          <p:cNvSpPr/>
          <p:nvPr/>
        </p:nvSpPr>
        <p:spPr>
          <a:xfrm>
            <a:off x="142902" y="1128713"/>
            <a:ext cx="1082394" cy="4929187"/>
          </a:xfrm>
          <a:prstGeom prst="rightArrowCallou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PT" sz="2800" b="1" dirty="0"/>
              <a:t>Acções estratégicas</a:t>
            </a:r>
            <a:endParaRPr lang="en-GB" sz="2800" b="1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490472" y="987552"/>
            <a:ext cx="10195560" cy="5367528"/>
          </a:xfrm>
          <a:ln>
            <a:solidFill>
              <a:srgbClr val="00B0F0"/>
            </a:solidFill>
          </a:ln>
        </p:spPr>
        <p:txBody>
          <a:bodyPr>
            <a:noAutofit/>
          </a:bodyPr>
          <a:lstStyle/>
          <a:p>
            <a:pPr marL="285750" lvl="0" indent="-285750" fontAlgn="ctr">
              <a:lnSpc>
                <a:spcPct val="100000"/>
              </a:lnSpc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fontAlgn="ctr">
              <a:lnSpc>
                <a:spcPct val="100000"/>
              </a:lnSpc>
            </a:pPr>
            <a:endParaRPr lang="pt-B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fontAlgn="ctr">
              <a:lnSpc>
                <a:spcPct val="100000"/>
              </a:lnSpc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fontAlgn="ctr">
              <a:lnSpc>
                <a:spcPct val="100000"/>
              </a:lnSpc>
            </a:pPr>
            <a:endParaRPr lang="pt-B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fontAlgn="ctr">
              <a:lnSpc>
                <a:spcPct val="100000"/>
              </a:lnSpc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fontAlgn="ctr">
              <a:lnSpc>
                <a:spcPct val="100000"/>
              </a:lnSpc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fontAlgn="ctr">
              <a:lnSpc>
                <a:spcPct val="100000"/>
              </a:lnSpc>
            </a:pPr>
            <a:endParaRPr lang="pt-B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fontAlgn="ctr">
              <a:lnSpc>
                <a:spcPct val="100000"/>
              </a:lnSpc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fontAlgn="ctr">
              <a:lnSpc>
                <a:spcPct val="100000"/>
              </a:lnSpc>
            </a:pPr>
            <a:endParaRPr lang="pt-B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fontAlgn="ctr">
              <a:lnSpc>
                <a:spcPct val="100000"/>
              </a:lnSpc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ctr">
              <a:lnSpc>
                <a:spcPct val="10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Fortalecer a capacidade de resposta e prontidão dos serviços de saúde no contexto de emergência;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Aumentar a capacidade de diagnóstico e tratamento especializado de doenças;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Expandir e assegurar a sustentabilidade de programas integrados de promoção da saúde e prevenção de doenças, incluindo o fortalecimento das intervenções comunitárias;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Assegurar a cobertura de crianças completamente vacinadas;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Expandir e equipar as unidades sanitárias e os postos comunitários de saúde, </a:t>
            </a: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incluindo unidades móveis;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Assegurar a disponibilidade de profissionais de saúde especializados e gestores;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Formar novos Agentes Polivalentes de Saúde (APS);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Promover capacitação, formação contínua e apoio aos Praticantes de Medicina Tradicional e profissionais de saúde, tendo em conta a abordagem socio cultural;</a:t>
            </a:r>
            <a:endParaRPr lang="pt-P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 manutenção  de Infraestruturas.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defRPr/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defRPr/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defRPr/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defRPr/>
            </a:pPr>
            <a:endParaRPr lang="pt-P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defRPr/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defRPr/>
            </a:pP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defRPr/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746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Fortalecer a resposta às doenças transmissíveis e não transmissíveis, incluindo o trauma (1/2)</a:t>
            </a:r>
            <a:endParaRPr lang="pt-BR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Right Arrow Callout 4"/>
          <p:cNvSpPr/>
          <p:nvPr/>
        </p:nvSpPr>
        <p:spPr>
          <a:xfrm>
            <a:off x="225198" y="1204939"/>
            <a:ext cx="1082394" cy="4619789"/>
          </a:xfrm>
          <a:prstGeom prst="rightArrowCallou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PT" sz="2800" b="1" dirty="0"/>
              <a:t>Acções estratégicas</a:t>
            </a:r>
            <a:endParaRPr lang="en-GB" sz="2800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362456" y="1216152"/>
            <a:ext cx="10186416" cy="4654296"/>
          </a:xfrm>
          <a:ln>
            <a:solidFill>
              <a:srgbClr val="00B0F0"/>
            </a:solidFill>
          </a:ln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defRPr/>
            </a:pPr>
            <a:endParaRPr lang="pt-B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defRPr/>
            </a:pPr>
            <a:endParaRPr lang="pt-B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defRPr/>
            </a:pPr>
            <a:endParaRPr lang="pt-B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defRPr/>
            </a:pPr>
            <a:endParaRPr lang="pt-B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Controlar e reduzir a incidência da malária por 1000 habitantes nas comunidades;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Expandir a capacidade nacional de suspeita, diagnóstico e tratamento da tuberculose todas as formas, através da intensificação da busca </a:t>
            </a:r>
            <a:r>
              <a:rPr lang="pt-P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</a:t>
            </a: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casos;</a:t>
            </a:r>
            <a:endParaRPr lang="pt-B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Promover a utilização dos serviços de saúde mental;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Expandir a oferta de rastreio DNTs (Hipertensão Arterial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cancro do colo do útero e Diabetes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nos cuidados de saúde primários;</a:t>
            </a: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defRPr/>
            </a:pPr>
            <a:endParaRPr lang="pt-P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defRPr/>
            </a:pPr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defRPr/>
            </a:pPr>
            <a:endParaRPr lang="pt-B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defRPr/>
            </a:pPr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40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Fortalecer a resposta às doenças transmissíveis e não transmissíveis, incluindo o trauma (2/2)</a:t>
            </a:r>
            <a:endParaRPr lang="pt-BR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Right Arrow Callout 4"/>
          <p:cNvSpPr/>
          <p:nvPr/>
        </p:nvSpPr>
        <p:spPr>
          <a:xfrm>
            <a:off x="225198" y="1204939"/>
            <a:ext cx="1082394" cy="4619789"/>
          </a:xfrm>
          <a:prstGeom prst="rightArrowCallou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PT" sz="2800" b="1" dirty="0"/>
              <a:t>Acções estratégicas</a:t>
            </a:r>
            <a:endParaRPr lang="en-GB" sz="2800" b="1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543050" y="957263"/>
            <a:ext cx="9952101" cy="5276071"/>
          </a:xfrm>
          <a:ln>
            <a:solidFill>
              <a:srgbClr val="00B0F0"/>
            </a:solidFill>
          </a:ln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Expandir a disponibilidade da termoablação nas unidades sanitárias que realizam rastreio do cancro do colo do útero;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Promover a literacia em saúde sobre factores de risco e Prevenção de Doenças Não Transmissíveis (DNTs);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PT" sz="220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Reforçar a implementação das acções no âmbito prevenção das </a:t>
            </a:r>
            <a:r>
              <a:rPr lang="pt-PT" sz="2200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DNTs</a:t>
            </a:r>
            <a:r>
              <a:rPr lang="en-GB" sz="220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.</a:t>
            </a: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Expandir o rastreio do cancro do colo do útero através do teste de HPV/DNA;</a:t>
            </a:r>
            <a:endParaRPr lang="pt-PT" sz="2200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Aumentar o número de adultos e crianças vivendo com HIV que beneficiam de TARV, incluindo o aumento da a taxa de supressão viral;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Desenvolver Intervenções para a Eliminação das DTN nos distritos endêmicos.</a:t>
            </a: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defRPr/>
            </a:pP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438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Reforço da capacidade de resposta assistencial e segurança do paciente nas US (1/2)</a:t>
            </a:r>
            <a:endParaRPr lang="pt-BR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Right Arrow Callout 4"/>
          <p:cNvSpPr/>
          <p:nvPr/>
        </p:nvSpPr>
        <p:spPr>
          <a:xfrm>
            <a:off x="225198" y="1204939"/>
            <a:ext cx="1082394" cy="4619789"/>
          </a:xfrm>
          <a:prstGeom prst="rightArrowCallou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PT" sz="2800" b="1" dirty="0"/>
              <a:t>Acções estratégicas</a:t>
            </a:r>
            <a:endParaRPr lang="en-GB" sz="2800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403985" y="942975"/>
            <a:ext cx="10089832" cy="5755005"/>
          </a:xfrm>
          <a:ln>
            <a:solidFill>
              <a:srgbClr val="00B0F0"/>
            </a:solidFill>
          </a:ln>
        </p:spPr>
        <p:txBody>
          <a:bodyPr>
            <a:noAutofit/>
          </a:bodyPr>
          <a:lstStyle/>
          <a:p>
            <a:pPr lvl="0" algn="just"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Melhorar a qualidade, segurança e humanização dos cuidados de saúde, através da implementação da metodologia 5S;</a:t>
            </a:r>
          </a:p>
          <a:p>
            <a:pPr lvl="0" algn="just"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endParaRPr lang="pt-BR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Fortalecer a gestão de resíduos biomédicos nas unidades sanitárias;</a:t>
            </a:r>
          </a:p>
          <a:p>
            <a:pPr algn="just"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Assegurar a disponibilidade e aprovisionamento de medicamentos e artigos médicos nas unidades sanitárias;</a:t>
            </a:r>
          </a:p>
          <a:p>
            <a:pPr algn="just"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endParaRPr lang="pt-BR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Reforçar a capacidade de diagnóstico e tratamento especializado de doenças, incluindo o trauma; </a:t>
            </a:r>
          </a:p>
          <a:p>
            <a:pPr algn="just"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endParaRPr lang="pt-BR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Expandir os serviços especializados de saúde dando primazia aos hospitais distritais;</a:t>
            </a: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Promover o uso racional de medicamentos;</a:t>
            </a:r>
          </a:p>
          <a:p>
            <a:pPr algn="just"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Reforçar a capacidade de organização e conservação dos medicamentos e artigos médicos.</a:t>
            </a:r>
          </a:p>
        </p:txBody>
      </p:sp>
    </p:spTree>
    <p:extLst>
      <p:ext uri="{BB962C8B-B14F-4D97-AF65-F5344CB8AC3E}">
        <p14:creationId xmlns:p14="http://schemas.microsoft.com/office/powerpoint/2010/main" val="1275619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371854" y="146768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Reforço da capacidade de resposta assistencial e segurança do paciente nas US (2/2)</a:t>
            </a:r>
            <a:endParaRPr lang="pt-BR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Right Arrow Callout 4"/>
          <p:cNvSpPr/>
          <p:nvPr/>
        </p:nvSpPr>
        <p:spPr>
          <a:xfrm>
            <a:off x="225198" y="1204939"/>
            <a:ext cx="1082394" cy="4619789"/>
          </a:xfrm>
          <a:prstGeom prst="rightArrowCallou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PT" sz="2800" b="1" dirty="0"/>
              <a:t>Acções estratégicas</a:t>
            </a:r>
            <a:endParaRPr lang="en-GB" sz="2800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417320" y="1338470"/>
            <a:ext cx="9427464" cy="4611756"/>
          </a:xfrm>
          <a:ln>
            <a:solidFill>
              <a:srgbClr val="00B0F0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Fortalecer a capacidade cirúrgica dos hospitais distritais;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Reforçar o sistema logístico na cadeia de abastecimento; </a:t>
            </a:r>
          </a:p>
          <a:p>
            <a:pPr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Melhorar a qualidade de assistência médica;</a:t>
            </a:r>
          </a:p>
          <a:p>
            <a:pPr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Reabilitação e construção de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US;</a:t>
            </a:r>
          </a:p>
          <a:p>
            <a:pPr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Integrar e assegurar a disponibilidade dos insumos para práticas de medicina  alternativa complementares (Acupuctura, Ventosas terapia e outras técnicas)  nas Unidades sanitárias.</a:t>
            </a:r>
          </a:p>
        </p:txBody>
      </p:sp>
    </p:spTree>
    <p:extLst>
      <p:ext uri="{BB962C8B-B14F-4D97-AF65-F5344CB8AC3E}">
        <p14:creationId xmlns:p14="http://schemas.microsoft.com/office/powerpoint/2010/main" val="234132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371854" y="146768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Reforço da capacidade de resposta a emergências em saúde pública</a:t>
            </a:r>
            <a:endParaRPr lang="pt-BR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Right Arrow Callout 4"/>
          <p:cNvSpPr/>
          <p:nvPr/>
        </p:nvSpPr>
        <p:spPr>
          <a:xfrm>
            <a:off x="225198" y="1204939"/>
            <a:ext cx="1082394" cy="4619789"/>
          </a:xfrm>
          <a:prstGeom prst="rightArrowCallou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PT" sz="2800" b="1" dirty="0"/>
              <a:t>Acções estratégicas</a:t>
            </a:r>
            <a:endParaRPr lang="en-GB" sz="2800" b="1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499617" y="1124717"/>
            <a:ext cx="9665208" cy="5102347"/>
          </a:xfrm>
          <a:ln>
            <a:solidFill>
              <a:srgbClr val="00B0F0"/>
            </a:solidFill>
          </a:ln>
        </p:spPr>
        <p:txBody>
          <a:bodyPr>
            <a:noAutofit/>
          </a:bodyPr>
          <a:lstStyle/>
          <a:p>
            <a:pPr lvl="0" algn="just"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Reforçar a capacidade de resposta e prontidão dos serviços de saúde no contexto de emergência;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Reforçar a capacidade de preparação para resposta de emergências em saúde pública;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Opercionalizar o COESP central;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Expandir a rede dos COESP provinciais;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Reforçar a capacidade técnica para a gestão de emergências de saúde pública;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Reforçar a capacidade de detecção de casos de doenças preveníveis por vacina (DPV);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Expandir os centros operativos de emergência em saúde pública;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Operacionalizar o roteiro de vigilância integrada de doenças e respostas;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Garantir o controlo da qualidade de àguas, alimentos e zaragatoas através de amostras analisadas no laboratório;</a:t>
            </a:r>
            <a:endParaRPr lang="pt-PT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PT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equipas de resposta rápida em níveis distrital e provincial para emergência em saúde pública;</a:t>
            </a:r>
            <a:endParaRPr lang="en-GB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Courier New" panose="02070309020205020404" pitchFamily="49" charset="0"/>
              <a:buChar char="o"/>
              <a:defRPr/>
            </a:pPr>
            <a:r>
              <a:rPr lang="pt-PT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Expandir o sistema de alerta comunitário para garantir que sinais precoces cheguem</a:t>
            </a: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238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371854" y="146768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Próximos passos</a:t>
            </a:r>
            <a:endParaRPr lang="pt-BR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389888"/>
            <a:ext cx="10515600" cy="4443983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Harmonizar as prioridades, acções estratégicas, metas, indicadores de resultado;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Acelerar a elaboração da proposta do PESOE 2027 do sector (Governo);</a:t>
            </a:r>
          </a:p>
          <a:p>
            <a:pPr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Apoio técnico às províncias na elaboração e alinhamento das prioridades e acções estratégicas (provincial, distrital e central); 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Elaborar o Plano Operacional do Sector para 2027;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Finalizar a recolha e harmonização dos compromissos dos parceiros para 2027;</a:t>
            </a:r>
          </a:p>
        </p:txBody>
      </p:sp>
    </p:spTree>
    <p:extLst>
      <p:ext uri="{BB962C8B-B14F-4D97-AF65-F5344CB8AC3E}">
        <p14:creationId xmlns:p14="http://schemas.microsoft.com/office/powerpoint/2010/main" val="507426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48520" y="1878481"/>
            <a:ext cx="9441951" cy="132524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pt-PT" sz="4800" b="1" dirty="0">
                <a:solidFill>
                  <a:srgbClr val="DBEFF9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Muito </a:t>
            </a:r>
            <a:r>
              <a:rPr lang="pt-PT" sz="4800" b="1" dirty="0" err="1">
                <a:solidFill>
                  <a:srgbClr val="DBEFF9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obrigadA</a:t>
            </a:r>
            <a:r>
              <a:rPr lang="pt-PT" sz="4800" b="1" dirty="0">
                <a:solidFill>
                  <a:srgbClr val="DBEFF9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3986</TotalTime>
  <Words>1697</Words>
  <Application>Microsoft Office PowerPoint</Application>
  <PresentationFormat>Ecrã Panorâmico</PresentationFormat>
  <Paragraphs>179</Paragraphs>
  <Slides>17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17</vt:i4>
      </vt:variant>
    </vt:vector>
  </HeadingPairs>
  <TitlesOfParts>
    <vt:vector size="26" baseType="lpstr">
      <vt:lpstr>Aptos</vt:lpstr>
      <vt:lpstr>Arial</vt:lpstr>
      <vt:lpstr>Century Gothic</vt:lpstr>
      <vt:lpstr>Courier New</vt:lpstr>
      <vt:lpstr>Garet Bold</vt:lpstr>
      <vt:lpstr>Garet Bold Italics</vt:lpstr>
      <vt:lpstr>Times New Roman</vt:lpstr>
      <vt:lpstr>Wingdings 3</vt:lpstr>
      <vt:lpstr>Slice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Muito obrigadA!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Atija Taiar</cp:lastModifiedBy>
  <cp:revision>132</cp:revision>
  <dcterms:created xsi:type="dcterms:W3CDTF">2025-07-14T08:03:00Z</dcterms:created>
  <dcterms:modified xsi:type="dcterms:W3CDTF">2026-07-02T07:27:36Z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