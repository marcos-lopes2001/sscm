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392" r:id="rId4"/>
    <p:sldId id="393" r:id="rId5"/>
    <p:sldId id="396" r:id="rId6"/>
    <p:sldId id="395" r:id="rId7"/>
    <p:sldId id="406" r:id="rId8"/>
    <p:sldId id="401" r:id="rId9"/>
    <p:sldId id="308" r:id="rId10"/>
    <p:sldId id="398" r:id="rId11"/>
    <p:sldId id="399" r:id="rId12"/>
    <p:sldId id="400" r:id="rId13"/>
    <p:sldId id="261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M" lastIdx="0" clrIdx="0"/>
  <p:cmAuthor id="2" name="Maria da Luz Velho VAZ" initials="MdLV" lastIdx="0" clrIdx="1"/>
  <p:cmAuthor id="3" name="Nelita Nassone" initials="NN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BFB11-33C9-40FA-B488-D3D8038E58BD}" v="3" dt="2026-06-24T09:54:17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64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297E45-20C3-4BF6-828C-23466BE5EFC2}" type="doc">
      <dgm:prSet loTypeId="urn:microsoft.com/office/officeart/2005/8/layout/process3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pt-PT"/>
        </a:p>
      </dgm:t>
    </dgm:pt>
    <dgm:pt modelId="{C0A1DDA7-C8D3-450C-A51B-5E4BC653DBD9}">
      <dgm:prSet custT="1"/>
      <dgm:spPr/>
      <dgm:t>
        <a:bodyPr/>
        <a:lstStyle/>
        <a:p>
          <a:pPr algn="l"/>
          <a:r>
            <a:rPr lang="pt-PT" sz="1800" b="1" dirty="0">
              <a:latin typeface="Abadi" panose="020B0604020104020204" pitchFamily="34" charset="0"/>
            </a:rPr>
            <a:t>O CFMP é um instrumento trienal, rolante:</a:t>
          </a:r>
        </a:p>
      </dgm:t>
    </dgm:pt>
    <dgm:pt modelId="{8B8D4430-FA21-4D13-9558-5B33CEA0DE57}" type="parTrans" cxnId="{98FC6B26-0F2E-4405-A0FF-71740733EBA2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9EEA5B1D-E5A0-4780-A16C-BAD657CEC076}" type="sibTrans" cxnId="{98FC6B26-0F2E-4405-A0FF-71740733EBA2}">
      <dgm:prSet custT="1"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2F6A3203-B300-4129-8951-0F669020EBD2}">
      <dgm:prSet custT="1"/>
      <dgm:spPr/>
      <dgm:t>
        <a:bodyPr/>
        <a:lstStyle/>
        <a:p>
          <a:r>
            <a:rPr lang="pt-PT" sz="1800" b="1" dirty="0">
              <a:latin typeface="Abadi" panose="020B0604020104020204" pitchFamily="34" charset="0"/>
            </a:rPr>
            <a:t>Orienta prioridades, recursos e limites para o PESOE.</a:t>
          </a:r>
        </a:p>
      </dgm:t>
    </dgm:pt>
    <dgm:pt modelId="{09EB9908-7F68-4D2D-B631-01426F9D656C}" type="parTrans" cxnId="{2AA4089E-5479-4941-89A1-E28E4DE57E64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DC75A825-1763-41F4-85E1-E726FC7C27FA}" type="sibTrans" cxnId="{2AA4089E-5479-4941-89A1-E28E4DE57E64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61566E02-BC97-48AA-B96F-5E0CB21A0336}">
      <dgm:prSet custT="1"/>
      <dgm:spPr/>
      <dgm:t>
        <a:bodyPr/>
        <a:lstStyle/>
        <a:p>
          <a:r>
            <a:rPr lang="pt-PT" sz="1800" b="1" dirty="0">
              <a:latin typeface="Abadi" panose="020B0604020104020204" pitchFamily="34" charset="0"/>
            </a:rPr>
            <a:t>Melhora  a previsibilidade e permite ajustar a despesa conforme os recursos disponíveis.</a:t>
          </a:r>
        </a:p>
      </dgm:t>
    </dgm:pt>
    <dgm:pt modelId="{A48F6B68-6920-4AC1-BE3E-84E1E136AC68}" type="parTrans" cxnId="{CF860A6D-1673-401B-B53B-787FBC12FDD9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B42EBB8D-0DD2-406D-936E-E0A7AB4AA7BB}" type="sibTrans" cxnId="{CF860A6D-1673-401B-B53B-787FBC12FDD9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7541ABAD-46EF-43FE-A384-96ED196A3CC6}">
      <dgm:prSet custT="1"/>
      <dgm:spPr/>
      <dgm:t>
        <a:bodyPr/>
        <a:lstStyle/>
        <a:p>
          <a:pPr algn="l"/>
          <a:r>
            <a:rPr lang="pt-PT" sz="1800" b="1">
              <a:latin typeface="Abadi" panose="020B0604020104020204" pitchFamily="34" charset="0"/>
            </a:rPr>
            <a:t>A proposta do CFM 2027–2029:</a:t>
          </a:r>
        </a:p>
      </dgm:t>
    </dgm:pt>
    <dgm:pt modelId="{378CC337-6CE7-4B5C-8F45-368FD02851FB}" type="parTrans" cxnId="{AE3D5A2C-4614-40EE-A07E-385FE7D842F2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B95EAD4F-E2B3-4E0B-A941-FF1B2108E59F}" type="sibTrans" cxnId="{AE3D5A2C-4614-40EE-A07E-385FE7D842F2}">
      <dgm:prSet custT="1"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3627D2E5-1D10-447C-AF19-AC3E42114C32}">
      <dgm:prSet custT="1"/>
      <dgm:spPr/>
      <dgm:t>
        <a:bodyPr/>
        <a:lstStyle/>
        <a:p>
          <a:r>
            <a:rPr lang="pt-PT" sz="1800" b="1">
              <a:latin typeface="Abadi" panose="020B0604020104020204" pitchFamily="34" charset="0"/>
            </a:rPr>
            <a:t>Baseia-se nos limites indicativos comunicados pelo Ministério das Finanças.</a:t>
          </a:r>
        </a:p>
      </dgm:t>
    </dgm:pt>
    <dgm:pt modelId="{3E9AA432-5824-4471-98A8-9763F1C5E024}" type="parTrans" cxnId="{EAA46ECB-40CE-472A-94CD-F23D4DDD6793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E87C2A93-7410-4C15-A50F-85B0F2BD60C0}" type="sibTrans" cxnId="{EAA46ECB-40CE-472A-94CD-F23D4DDD6793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1F575173-9527-4B02-A953-87C8E958AA86}">
      <dgm:prSet custT="1"/>
      <dgm:spPr/>
      <dgm:t>
        <a:bodyPr/>
        <a:lstStyle/>
        <a:p>
          <a:r>
            <a:rPr lang="pt-PT" sz="1800" b="1">
              <a:latin typeface="Abadi" panose="020B0604020104020204" pitchFamily="34" charset="0"/>
            </a:rPr>
            <a:t>Alinha com o PQG 2025–2029 e a ENDE 2025–2044.</a:t>
          </a:r>
        </a:p>
      </dgm:t>
    </dgm:pt>
    <dgm:pt modelId="{B66AAB58-AB18-435F-AFA7-DF2FF74882A2}" type="parTrans" cxnId="{7600950C-3371-432D-A752-636D4D6DB33F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0FDD94CC-BE2B-4547-A8B9-B2854A1E8022}" type="sibTrans" cxnId="{7600950C-3371-432D-A752-636D4D6DB33F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FE808F36-B401-45C9-B699-E33533E3AD9A}">
      <dgm:prSet custT="1"/>
      <dgm:spPr/>
      <dgm:t>
        <a:bodyPr/>
        <a:lstStyle/>
        <a:p>
          <a:pPr algn="l"/>
          <a:r>
            <a:rPr lang="pt-PT" sz="1800" b="1">
              <a:latin typeface="Abadi" panose="020B0604020104020204" pitchFamily="34" charset="0"/>
            </a:rPr>
            <a:t>Ligação ao ciclo de governação</a:t>
          </a:r>
        </a:p>
      </dgm:t>
    </dgm:pt>
    <dgm:pt modelId="{08F45539-4119-4544-94A4-8D175D71BE83}" type="parTrans" cxnId="{BF68282E-D579-4D90-A25D-CD0B3F523C00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70C13007-C722-4CE5-8AC0-7CBC98E42674}" type="sibTrans" cxnId="{BF68282E-D579-4D90-A25D-CD0B3F523C00}">
      <dgm:prSet custT="1"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EBF50A79-30A8-49C8-814D-505778428EB1}">
      <dgm:prSet custT="1"/>
      <dgm:spPr/>
      <dgm:t>
        <a:bodyPr/>
        <a:lstStyle/>
        <a:p>
          <a:r>
            <a:rPr lang="pt-PT" sz="1800" b="1">
              <a:latin typeface="Abadi" panose="020B0604020104020204" pitchFamily="34" charset="0"/>
            </a:rPr>
            <a:t>Três  últimos anos do quinquénio iniciado em 2025 - exige maior responsabilidade no cumprimento das metas definidas para o mandato.</a:t>
          </a:r>
        </a:p>
      </dgm:t>
    </dgm:pt>
    <dgm:pt modelId="{7AC41663-9464-4050-8959-F2D7C078B0EC}" type="parTrans" cxnId="{7E10CD78-E4F5-4DE2-A57C-50A2F7568389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A3AADBAA-C135-4753-9DD2-66EF7C218C5E}" type="sibTrans" cxnId="{7E10CD78-E4F5-4DE2-A57C-50A2F7568389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BB6504A4-7289-469A-B6C8-C67B465FF370}">
      <dgm:prSet custT="1"/>
      <dgm:spPr/>
      <dgm:t>
        <a:bodyPr/>
        <a:lstStyle/>
        <a:p>
          <a:pPr algn="l"/>
          <a:r>
            <a:rPr lang="pt-PT" sz="1800" b="1" dirty="0">
              <a:latin typeface="Abadi" panose="020B0604020104020204" pitchFamily="34" charset="0"/>
            </a:rPr>
            <a:t>O Foco estratégico do sector da saúde para o triénio 2027-2029: </a:t>
          </a:r>
        </a:p>
      </dgm:t>
    </dgm:pt>
    <dgm:pt modelId="{DAA05777-A4F5-43B3-B8DA-3E25E6ADC953}" type="parTrans" cxnId="{8CBAF910-64F9-4B64-B2D5-048826342F85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8557EE65-D799-4D1C-9076-58A89E6E5377}" type="sibTrans" cxnId="{8CBAF910-64F9-4B64-B2D5-048826342F85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355CAB96-3EFE-45A1-8D40-F5F1C26F0583}">
      <dgm:prSet custT="1"/>
      <dgm:spPr/>
      <dgm:t>
        <a:bodyPr/>
        <a:lstStyle/>
        <a:p>
          <a:r>
            <a:rPr lang="pt-PT" sz="1800" b="1" dirty="0">
              <a:latin typeface="Abadi" panose="020B0604020104020204" pitchFamily="34" charset="0"/>
            </a:rPr>
            <a:t>Mantém a prioridade em ampliar o acesso universal a serviços básicos de saúde de qualidade.</a:t>
          </a:r>
        </a:p>
      </dgm:t>
    </dgm:pt>
    <dgm:pt modelId="{643198FB-5C84-41CA-BFC6-701097A4C4AF}" type="parTrans" cxnId="{97207569-A9F6-4246-9E0E-CB0FE714A97B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5B172569-CA4B-43CE-9EE1-8C3F718D6DFC}" type="sibTrans" cxnId="{97207569-A9F6-4246-9E0E-CB0FE714A97B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3EFA860F-9017-4937-9A6A-41921C11FD86}">
      <dgm:prSet custT="1"/>
      <dgm:spPr/>
      <dgm:t>
        <a:bodyPr/>
        <a:lstStyle/>
        <a:p>
          <a:r>
            <a:rPr lang="pt-PT" sz="1800" b="1">
              <a:latin typeface="Abadi" panose="020B0604020104020204" pitchFamily="34" charset="0"/>
            </a:rPr>
            <a:t>Reforça governação, financiamento, recursos humanos, tecnologia, informação e o sistema de saúde.</a:t>
          </a:r>
        </a:p>
      </dgm:t>
    </dgm:pt>
    <dgm:pt modelId="{A24D77BC-9D84-400D-9471-F736D36AFCF4}" type="parTrans" cxnId="{F2467A32-F362-4A76-948A-9E453F04D6B3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C529521B-F9B6-49F0-B01E-94D66BC7CF19}" type="sibTrans" cxnId="{F2467A32-F362-4A76-948A-9E453F04D6B3}">
      <dgm:prSet/>
      <dgm:spPr/>
      <dgm:t>
        <a:bodyPr/>
        <a:lstStyle/>
        <a:p>
          <a:endParaRPr lang="pt-PT" sz="1800" b="1">
            <a:latin typeface="Abadi" panose="020B0604020104020204" pitchFamily="34" charset="0"/>
          </a:endParaRPr>
        </a:p>
      </dgm:t>
    </dgm:pt>
    <dgm:pt modelId="{2EB4E617-7C31-4BC6-9BBC-F3EE7F57EB42}">
      <dgm:prSet custT="1"/>
      <dgm:spPr/>
      <dgm:t>
        <a:bodyPr/>
        <a:lstStyle/>
        <a:p>
          <a:endParaRPr lang="pt-PT" sz="1800" b="1" dirty="0">
            <a:latin typeface="Abadi" panose="020B0604020104020204" pitchFamily="34" charset="0"/>
          </a:endParaRPr>
        </a:p>
      </dgm:t>
    </dgm:pt>
    <dgm:pt modelId="{6D48EBF7-4426-4A65-9CEF-097011A3A95A}" type="parTrans" cxnId="{6CA613E6-313E-4BF9-AE85-6ED37B5A51D0}">
      <dgm:prSet/>
      <dgm:spPr/>
      <dgm:t>
        <a:bodyPr/>
        <a:lstStyle/>
        <a:p>
          <a:endParaRPr lang="en-US"/>
        </a:p>
      </dgm:t>
    </dgm:pt>
    <dgm:pt modelId="{F751500A-4A1A-4CAF-BAE3-952BC3B33A4C}" type="sibTrans" cxnId="{6CA613E6-313E-4BF9-AE85-6ED37B5A51D0}">
      <dgm:prSet/>
      <dgm:spPr/>
      <dgm:t>
        <a:bodyPr/>
        <a:lstStyle/>
        <a:p>
          <a:endParaRPr lang="en-US"/>
        </a:p>
      </dgm:t>
    </dgm:pt>
    <dgm:pt modelId="{EB0BE4CA-906C-4F89-91E4-C45201D2BDB5}" type="pres">
      <dgm:prSet presAssocID="{8A297E45-20C3-4BF6-828C-23466BE5EFC2}" presName="linearFlow" presStyleCnt="0">
        <dgm:presLayoutVars>
          <dgm:dir/>
          <dgm:animLvl val="lvl"/>
          <dgm:resizeHandles val="exact"/>
        </dgm:presLayoutVars>
      </dgm:prSet>
      <dgm:spPr/>
    </dgm:pt>
    <dgm:pt modelId="{80704234-B814-46DD-9FFF-9F2D6B47841D}" type="pres">
      <dgm:prSet presAssocID="{C0A1DDA7-C8D3-450C-A51B-5E4BC653DBD9}" presName="composite" presStyleCnt="0"/>
      <dgm:spPr/>
    </dgm:pt>
    <dgm:pt modelId="{ED6168EA-60A3-42B1-B721-8E18C3EF1F20}" type="pres">
      <dgm:prSet presAssocID="{C0A1DDA7-C8D3-450C-A51B-5E4BC653DBD9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338D4A5-4EBC-4B51-B65E-D95602421EB4}" type="pres">
      <dgm:prSet presAssocID="{C0A1DDA7-C8D3-450C-A51B-5E4BC653DBD9}" presName="parSh" presStyleLbl="node1" presStyleIdx="0" presStyleCnt="4"/>
      <dgm:spPr/>
    </dgm:pt>
    <dgm:pt modelId="{E91761E9-9B46-4AD1-9778-6FB47EBDF3D5}" type="pres">
      <dgm:prSet presAssocID="{C0A1DDA7-C8D3-450C-A51B-5E4BC653DBD9}" presName="desTx" presStyleLbl="fgAcc1" presStyleIdx="0" presStyleCnt="4" custLinFactNeighborY="4872">
        <dgm:presLayoutVars>
          <dgm:bulletEnabled val="1"/>
        </dgm:presLayoutVars>
      </dgm:prSet>
      <dgm:spPr/>
    </dgm:pt>
    <dgm:pt modelId="{A162CF33-3077-4A55-BBEC-CF7D82162B4E}" type="pres">
      <dgm:prSet presAssocID="{9EEA5B1D-E5A0-4780-A16C-BAD657CEC076}" presName="sibTrans" presStyleLbl="sibTrans2D1" presStyleIdx="0" presStyleCnt="3"/>
      <dgm:spPr/>
    </dgm:pt>
    <dgm:pt modelId="{C13BAA47-193E-4945-8F2A-E5F88D6AFD27}" type="pres">
      <dgm:prSet presAssocID="{9EEA5B1D-E5A0-4780-A16C-BAD657CEC076}" presName="connTx" presStyleLbl="sibTrans2D1" presStyleIdx="0" presStyleCnt="3"/>
      <dgm:spPr/>
    </dgm:pt>
    <dgm:pt modelId="{17464AEF-D6C3-4F00-AB67-B81972F945E6}" type="pres">
      <dgm:prSet presAssocID="{7541ABAD-46EF-43FE-A384-96ED196A3CC6}" presName="composite" presStyleCnt="0"/>
      <dgm:spPr/>
    </dgm:pt>
    <dgm:pt modelId="{FB0FD442-7C31-4F38-8B76-359C8D49D0EE}" type="pres">
      <dgm:prSet presAssocID="{7541ABAD-46EF-43FE-A384-96ED196A3CC6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7939060-6C72-4139-B20E-2712FAB7D96D}" type="pres">
      <dgm:prSet presAssocID="{7541ABAD-46EF-43FE-A384-96ED196A3CC6}" presName="parSh" presStyleLbl="node1" presStyleIdx="1" presStyleCnt="4"/>
      <dgm:spPr/>
    </dgm:pt>
    <dgm:pt modelId="{DE13B66C-8EAB-4D40-8E44-D34DA14322BE}" type="pres">
      <dgm:prSet presAssocID="{7541ABAD-46EF-43FE-A384-96ED196A3CC6}" presName="desTx" presStyleLbl="fgAcc1" presStyleIdx="1" presStyleCnt="4" custLinFactNeighborY="4872">
        <dgm:presLayoutVars>
          <dgm:bulletEnabled val="1"/>
        </dgm:presLayoutVars>
      </dgm:prSet>
      <dgm:spPr/>
    </dgm:pt>
    <dgm:pt modelId="{2B2B2386-D2C8-4E34-952B-D4F02831F5BE}" type="pres">
      <dgm:prSet presAssocID="{B95EAD4F-E2B3-4E0B-A941-FF1B2108E59F}" presName="sibTrans" presStyleLbl="sibTrans2D1" presStyleIdx="1" presStyleCnt="3"/>
      <dgm:spPr/>
    </dgm:pt>
    <dgm:pt modelId="{F3520E06-2873-48B7-8FCB-2A13ACB65687}" type="pres">
      <dgm:prSet presAssocID="{B95EAD4F-E2B3-4E0B-A941-FF1B2108E59F}" presName="connTx" presStyleLbl="sibTrans2D1" presStyleIdx="1" presStyleCnt="3"/>
      <dgm:spPr/>
    </dgm:pt>
    <dgm:pt modelId="{0208E9F3-9A89-4CD6-9D3C-5BEF0AD59F06}" type="pres">
      <dgm:prSet presAssocID="{FE808F36-B401-45C9-B699-E33533E3AD9A}" presName="composite" presStyleCnt="0"/>
      <dgm:spPr/>
    </dgm:pt>
    <dgm:pt modelId="{05B300E1-BC2E-49C2-A5DA-E7D685B77AC1}" type="pres">
      <dgm:prSet presAssocID="{FE808F36-B401-45C9-B699-E33533E3AD9A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D0855E5-0B68-4097-9971-E7251CE77CF0}" type="pres">
      <dgm:prSet presAssocID="{FE808F36-B401-45C9-B699-E33533E3AD9A}" presName="parSh" presStyleLbl="node1" presStyleIdx="2" presStyleCnt="4"/>
      <dgm:spPr/>
    </dgm:pt>
    <dgm:pt modelId="{B3F7B5BA-FDAB-4A70-84F7-46CA512F195C}" type="pres">
      <dgm:prSet presAssocID="{FE808F36-B401-45C9-B699-E33533E3AD9A}" presName="desTx" presStyleLbl="fgAcc1" presStyleIdx="2" presStyleCnt="4" custLinFactNeighborY="4872">
        <dgm:presLayoutVars>
          <dgm:bulletEnabled val="1"/>
        </dgm:presLayoutVars>
      </dgm:prSet>
      <dgm:spPr/>
    </dgm:pt>
    <dgm:pt modelId="{29656D03-9887-403F-B90B-DA40FF5805B3}" type="pres">
      <dgm:prSet presAssocID="{70C13007-C722-4CE5-8AC0-7CBC98E42674}" presName="sibTrans" presStyleLbl="sibTrans2D1" presStyleIdx="2" presStyleCnt="3"/>
      <dgm:spPr/>
    </dgm:pt>
    <dgm:pt modelId="{DCE22479-2CE9-4F61-A59A-E14054051331}" type="pres">
      <dgm:prSet presAssocID="{70C13007-C722-4CE5-8AC0-7CBC98E42674}" presName="connTx" presStyleLbl="sibTrans2D1" presStyleIdx="2" presStyleCnt="3"/>
      <dgm:spPr/>
    </dgm:pt>
    <dgm:pt modelId="{121847D6-A65A-4576-9497-8986DF06ECEE}" type="pres">
      <dgm:prSet presAssocID="{BB6504A4-7289-469A-B6C8-C67B465FF370}" presName="composite" presStyleCnt="0"/>
      <dgm:spPr/>
    </dgm:pt>
    <dgm:pt modelId="{E6DB779C-51F6-4805-B71E-52EDDB51FC7F}" type="pres">
      <dgm:prSet presAssocID="{BB6504A4-7289-469A-B6C8-C67B465FF370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13AFABD-49AF-42CA-A495-B4C74D8033F1}" type="pres">
      <dgm:prSet presAssocID="{BB6504A4-7289-469A-B6C8-C67B465FF370}" presName="parSh" presStyleLbl="node1" presStyleIdx="3" presStyleCnt="4" custScaleX="121817"/>
      <dgm:spPr/>
    </dgm:pt>
    <dgm:pt modelId="{4AF8710C-DBBD-4119-A6A0-A1F9E48A2A55}" type="pres">
      <dgm:prSet presAssocID="{BB6504A4-7289-469A-B6C8-C67B465FF370}" presName="desTx" presStyleLbl="fgAcc1" presStyleIdx="3" presStyleCnt="4" custScaleX="121501" custLinFactNeighborY="4872">
        <dgm:presLayoutVars>
          <dgm:bulletEnabled val="1"/>
        </dgm:presLayoutVars>
      </dgm:prSet>
      <dgm:spPr/>
    </dgm:pt>
  </dgm:ptLst>
  <dgm:cxnLst>
    <dgm:cxn modelId="{FEAAEA09-6BE6-457B-8486-3FDC9AADAA0A}" type="presOf" srcId="{C0A1DDA7-C8D3-450C-A51B-5E4BC653DBD9}" destId="{ED6168EA-60A3-42B1-B721-8E18C3EF1F20}" srcOrd="0" destOrd="0" presId="urn:microsoft.com/office/officeart/2005/8/layout/process3"/>
    <dgm:cxn modelId="{7600950C-3371-432D-A752-636D4D6DB33F}" srcId="{7541ABAD-46EF-43FE-A384-96ED196A3CC6}" destId="{1F575173-9527-4B02-A953-87C8E958AA86}" srcOrd="1" destOrd="0" parTransId="{B66AAB58-AB18-435F-AFA7-DF2FF74882A2}" sibTransId="{0FDD94CC-BE2B-4547-A8B9-B2854A1E8022}"/>
    <dgm:cxn modelId="{DE94440E-A4EE-47B1-85DC-D0A1C4DDE360}" type="presOf" srcId="{FE808F36-B401-45C9-B699-E33533E3AD9A}" destId="{05B300E1-BC2E-49C2-A5DA-E7D685B77AC1}" srcOrd="0" destOrd="0" presId="urn:microsoft.com/office/officeart/2005/8/layout/process3"/>
    <dgm:cxn modelId="{8CBAF910-64F9-4B64-B2D5-048826342F85}" srcId="{8A297E45-20C3-4BF6-828C-23466BE5EFC2}" destId="{BB6504A4-7289-469A-B6C8-C67B465FF370}" srcOrd="3" destOrd="0" parTransId="{DAA05777-A4F5-43B3-B8DA-3E25E6ADC953}" sibTransId="{8557EE65-D799-4D1C-9076-58A89E6E5377}"/>
    <dgm:cxn modelId="{AC79421C-7924-4F0D-95B1-E18A34D82B07}" type="presOf" srcId="{9EEA5B1D-E5A0-4780-A16C-BAD657CEC076}" destId="{C13BAA47-193E-4945-8F2A-E5F88D6AFD27}" srcOrd="1" destOrd="0" presId="urn:microsoft.com/office/officeart/2005/8/layout/process3"/>
    <dgm:cxn modelId="{2309FD20-F68D-477B-8C26-974418E0DD0D}" type="presOf" srcId="{EBF50A79-30A8-49C8-814D-505778428EB1}" destId="{B3F7B5BA-FDAB-4A70-84F7-46CA512F195C}" srcOrd="0" destOrd="0" presId="urn:microsoft.com/office/officeart/2005/8/layout/process3"/>
    <dgm:cxn modelId="{98FC6B26-0F2E-4405-A0FF-71740733EBA2}" srcId="{8A297E45-20C3-4BF6-828C-23466BE5EFC2}" destId="{C0A1DDA7-C8D3-450C-A51B-5E4BC653DBD9}" srcOrd="0" destOrd="0" parTransId="{8B8D4430-FA21-4D13-9558-5B33CEA0DE57}" sibTransId="{9EEA5B1D-E5A0-4780-A16C-BAD657CEC076}"/>
    <dgm:cxn modelId="{2C933229-344B-40F5-82BE-7205806643F0}" type="presOf" srcId="{C0A1DDA7-C8D3-450C-A51B-5E4BC653DBD9}" destId="{6338D4A5-4EBC-4B51-B65E-D95602421EB4}" srcOrd="1" destOrd="0" presId="urn:microsoft.com/office/officeart/2005/8/layout/process3"/>
    <dgm:cxn modelId="{AE3D5A2C-4614-40EE-A07E-385FE7D842F2}" srcId="{8A297E45-20C3-4BF6-828C-23466BE5EFC2}" destId="{7541ABAD-46EF-43FE-A384-96ED196A3CC6}" srcOrd="1" destOrd="0" parTransId="{378CC337-6CE7-4B5C-8F45-368FD02851FB}" sibTransId="{B95EAD4F-E2B3-4E0B-A941-FF1B2108E59F}"/>
    <dgm:cxn modelId="{BF68282E-D579-4D90-A25D-CD0B3F523C00}" srcId="{8A297E45-20C3-4BF6-828C-23466BE5EFC2}" destId="{FE808F36-B401-45C9-B699-E33533E3AD9A}" srcOrd="2" destOrd="0" parTransId="{08F45539-4119-4544-94A4-8D175D71BE83}" sibTransId="{70C13007-C722-4CE5-8AC0-7CBC98E42674}"/>
    <dgm:cxn modelId="{F2467A32-F362-4A76-948A-9E453F04D6B3}" srcId="{BB6504A4-7289-469A-B6C8-C67B465FF370}" destId="{3EFA860F-9017-4937-9A6A-41921C11FD86}" srcOrd="2" destOrd="0" parTransId="{A24D77BC-9D84-400D-9471-F736D36AFCF4}" sibTransId="{C529521B-F9B6-49F0-B01E-94D66BC7CF19}"/>
    <dgm:cxn modelId="{DC0EA438-C2DF-4FA7-8F49-EBB1A766BB7E}" type="presOf" srcId="{61566E02-BC97-48AA-B96F-5E0CB21A0336}" destId="{E91761E9-9B46-4AD1-9778-6FB47EBDF3D5}" srcOrd="0" destOrd="1" presId="urn:microsoft.com/office/officeart/2005/8/layout/process3"/>
    <dgm:cxn modelId="{10536C42-D481-4F22-8B6D-12FFB67ACC7B}" type="presOf" srcId="{3EFA860F-9017-4937-9A6A-41921C11FD86}" destId="{4AF8710C-DBBD-4119-A6A0-A1F9E48A2A55}" srcOrd="0" destOrd="2" presId="urn:microsoft.com/office/officeart/2005/8/layout/process3"/>
    <dgm:cxn modelId="{6A3E5A68-7611-45D6-8038-E37B6F52B35E}" type="presOf" srcId="{70C13007-C722-4CE5-8AC0-7CBC98E42674}" destId="{29656D03-9887-403F-B90B-DA40FF5805B3}" srcOrd="0" destOrd="0" presId="urn:microsoft.com/office/officeart/2005/8/layout/process3"/>
    <dgm:cxn modelId="{97207569-A9F6-4246-9E0E-CB0FE714A97B}" srcId="{BB6504A4-7289-469A-B6C8-C67B465FF370}" destId="{355CAB96-3EFE-45A1-8D40-F5F1C26F0583}" srcOrd="0" destOrd="0" parTransId="{643198FB-5C84-41CA-BFC6-701097A4C4AF}" sibTransId="{5B172569-CA4B-43CE-9EE1-8C3F718D6DFC}"/>
    <dgm:cxn modelId="{9688E46A-F13F-4E13-9459-0D4801BB4D9C}" type="presOf" srcId="{BB6504A4-7289-469A-B6C8-C67B465FF370}" destId="{413AFABD-49AF-42CA-A495-B4C74D8033F1}" srcOrd="1" destOrd="0" presId="urn:microsoft.com/office/officeart/2005/8/layout/process3"/>
    <dgm:cxn modelId="{874AFF4C-93F8-4598-9175-8BE034072E83}" type="presOf" srcId="{355CAB96-3EFE-45A1-8D40-F5F1C26F0583}" destId="{4AF8710C-DBBD-4119-A6A0-A1F9E48A2A55}" srcOrd="0" destOrd="0" presId="urn:microsoft.com/office/officeart/2005/8/layout/process3"/>
    <dgm:cxn modelId="{CF860A6D-1673-401B-B53B-787FBC12FDD9}" srcId="{C0A1DDA7-C8D3-450C-A51B-5E4BC653DBD9}" destId="{61566E02-BC97-48AA-B96F-5E0CB21A0336}" srcOrd="1" destOrd="0" parTransId="{A48F6B68-6920-4AC1-BE3E-84E1E136AC68}" sibTransId="{B42EBB8D-0DD2-406D-936E-E0A7AB4AA7BB}"/>
    <dgm:cxn modelId="{EBB00250-25E0-4D08-98FD-9932747133C9}" type="presOf" srcId="{BB6504A4-7289-469A-B6C8-C67B465FF370}" destId="{E6DB779C-51F6-4805-B71E-52EDDB51FC7F}" srcOrd="0" destOrd="0" presId="urn:microsoft.com/office/officeart/2005/8/layout/process3"/>
    <dgm:cxn modelId="{99EB4271-ACAE-4BF6-9CF7-742CC48B0FB9}" type="presOf" srcId="{7541ABAD-46EF-43FE-A384-96ED196A3CC6}" destId="{37939060-6C72-4139-B20E-2712FAB7D96D}" srcOrd="1" destOrd="0" presId="urn:microsoft.com/office/officeart/2005/8/layout/process3"/>
    <dgm:cxn modelId="{8CB3F654-D7F9-4FC1-8B61-A03CF9E8ADFF}" type="presOf" srcId="{3627D2E5-1D10-447C-AF19-AC3E42114C32}" destId="{DE13B66C-8EAB-4D40-8E44-D34DA14322BE}" srcOrd="0" destOrd="0" presId="urn:microsoft.com/office/officeart/2005/8/layout/process3"/>
    <dgm:cxn modelId="{7E10CD78-E4F5-4DE2-A57C-50A2F7568389}" srcId="{FE808F36-B401-45C9-B699-E33533E3AD9A}" destId="{EBF50A79-30A8-49C8-814D-505778428EB1}" srcOrd="0" destOrd="0" parTransId="{7AC41663-9464-4050-8959-F2D7C078B0EC}" sibTransId="{A3AADBAA-C135-4753-9DD2-66EF7C218C5E}"/>
    <dgm:cxn modelId="{0D514B99-498B-4B95-8087-873275773367}" type="presOf" srcId="{1F575173-9527-4B02-A953-87C8E958AA86}" destId="{DE13B66C-8EAB-4D40-8E44-D34DA14322BE}" srcOrd="0" destOrd="1" presId="urn:microsoft.com/office/officeart/2005/8/layout/process3"/>
    <dgm:cxn modelId="{8017169D-BA98-4861-8E62-39AC1AD3AFC0}" type="presOf" srcId="{70C13007-C722-4CE5-8AC0-7CBC98E42674}" destId="{DCE22479-2CE9-4F61-A59A-E14054051331}" srcOrd="1" destOrd="0" presId="urn:microsoft.com/office/officeart/2005/8/layout/process3"/>
    <dgm:cxn modelId="{2AA4089E-5479-4941-89A1-E28E4DE57E64}" srcId="{C0A1DDA7-C8D3-450C-A51B-5E4BC653DBD9}" destId="{2F6A3203-B300-4129-8951-0F669020EBD2}" srcOrd="0" destOrd="0" parTransId="{09EB9908-7F68-4D2D-B631-01426F9D656C}" sibTransId="{DC75A825-1763-41F4-85E1-E726FC7C27FA}"/>
    <dgm:cxn modelId="{14B520B7-F149-466C-81DB-8B380A85721B}" type="presOf" srcId="{FE808F36-B401-45C9-B699-E33533E3AD9A}" destId="{2D0855E5-0B68-4097-9971-E7251CE77CF0}" srcOrd="1" destOrd="0" presId="urn:microsoft.com/office/officeart/2005/8/layout/process3"/>
    <dgm:cxn modelId="{4F4075BC-CC2E-4AC5-B3D5-3223050FCDFC}" type="presOf" srcId="{7541ABAD-46EF-43FE-A384-96ED196A3CC6}" destId="{FB0FD442-7C31-4F38-8B76-359C8D49D0EE}" srcOrd="0" destOrd="0" presId="urn:microsoft.com/office/officeart/2005/8/layout/process3"/>
    <dgm:cxn modelId="{A7380EC1-9664-4A29-9AB0-4483D098C1E5}" type="presOf" srcId="{B95EAD4F-E2B3-4E0B-A941-FF1B2108E59F}" destId="{2B2B2386-D2C8-4E34-952B-D4F02831F5BE}" srcOrd="0" destOrd="0" presId="urn:microsoft.com/office/officeart/2005/8/layout/process3"/>
    <dgm:cxn modelId="{EAA46ECB-40CE-472A-94CD-F23D4DDD6793}" srcId="{7541ABAD-46EF-43FE-A384-96ED196A3CC6}" destId="{3627D2E5-1D10-447C-AF19-AC3E42114C32}" srcOrd="0" destOrd="0" parTransId="{3E9AA432-5824-4471-98A8-9763F1C5E024}" sibTransId="{E87C2A93-7410-4C15-A50F-85B0F2BD60C0}"/>
    <dgm:cxn modelId="{68CFD2DB-EB22-4A86-A5C2-527684E027DA}" type="presOf" srcId="{B95EAD4F-E2B3-4E0B-A941-FF1B2108E59F}" destId="{F3520E06-2873-48B7-8FCB-2A13ACB65687}" srcOrd="1" destOrd="0" presId="urn:microsoft.com/office/officeart/2005/8/layout/process3"/>
    <dgm:cxn modelId="{EA2BB5E5-FCEC-4992-99D6-79608B3DBB4E}" type="presOf" srcId="{2F6A3203-B300-4129-8951-0F669020EBD2}" destId="{E91761E9-9B46-4AD1-9778-6FB47EBDF3D5}" srcOrd="0" destOrd="0" presId="urn:microsoft.com/office/officeart/2005/8/layout/process3"/>
    <dgm:cxn modelId="{6CA613E6-313E-4BF9-AE85-6ED37B5A51D0}" srcId="{BB6504A4-7289-469A-B6C8-C67B465FF370}" destId="{2EB4E617-7C31-4BC6-9BBC-F3EE7F57EB42}" srcOrd="1" destOrd="0" parTransId="{6D48EBF7-4426-4A65-9CEF-097011A3A95A}" sibTransId="{F751500A-4A1A-4CAF-BAE3-952BC3B33A4C}"/>
    <dgm:cxn modelId="{7ECB1BF9-5B9E-4CEC-AAF6-83E7D8C5C528}" type="presOf" srcId="{8A297E45-20C3-4BF6-828C-23466BE5EFC2}" destId="{EB0BE4CA-906C-4F89-91E4-C45201D2BDB5}" srcOrd="0" destOrd="0" presId="urn:microsoft.com/office/officeart/2005/8/layout/process3"/>
    <dgm:cxn modelId="{79CE58FC-20AF-4E50-B018-07D455287E75}" type="presOf" srcId="{2EB4E617-7C31-4BC6-9BBC-F3EE7F57EB42}" destId="{4AF8710C-DBBD-4119-A6A0-A1F9E48A2A55}" srcOrd="0" destOrd="1" presId="urn:microsoft.com/office/officeart/2005/8/layout/process3"/>
    <dgm:cxn modelId="{173BC5FC-BFD6-439E-8C59-BABAF588FD23}" type="presOf" srcId="{9EEA5B1D-E5A0-4780-A16C-BAD657CEC076}" destId="{A162CF33-3077-4A55-BBEC-CF7D82162B4E}" srcOrd="0" destOrd="0" presId="urn:microsoft.com/office/officeart/2005/8/layout/process3"/>
    <dgm:cxn modelId="{9660B471-15D1-45F1-AF53-BA1A780FF4A2}" type="presParOf" srcId="{EB0BE4CA-906C-4F89-91E4-C45201D2BDB5}" destId="{80704234-B814-46DD-9FFF-9F2D6B47841D}" srcOrd="0" destOrd="0" presId="urn:microsoft.com/office/officeart/2005/8/layout/process3"/>
    <dgm:cxn modelId="{71933C52-554C-48EC-B480-D24C31882EAD}" type="presParOf" srcId="{80704234-B814-46DD-9FFF-9F2D6B47841D}" destId="{ED6168EA-60A3-42B1-B721-8E18C3EF1F20}" srcOrd="0" destOrd="0" presId="urn:microsoft.com/office/officeart/2005/8/layout/process3"/>
    <dgm:cxn modelId="{3BD89B78-4534-470E-B78C-34C53A2767E4}" type="presParOf" srcId="{80704234-B814-46DD-9FFF-9F2D6B47841D}" destId="{6338D4A5-4EBC-4B51-B65E-D95602421EB4}" srcOrd="1" destOrd="0" presId="urn:microsoft.com/office/officeart/2005/8/layout/process3"/>
    <dgm:cxn modelId="{6E581FFF-E537-4AB8-8344-4785C09FA8D9}" type="presParOf" srcId="{80704234-B814-46DD-9FFF-9F2D6B47841D}" destId="{E91761E9-9B46-4AD1-9778-6FB47EBDF3D5}" srcOrd="2" destOrd="0" presId="urn:microsoft.com/office/officeart/2005/8/layout/process3"/>
    <dgm:cxn modelId="{D24DA029-9B1A-4D50-A7A6-E324CCF575F4}" type="presParOf" srcId="{EB0BE4CA-906C-4F89-91E4-C45201D2BDB5}" destId="{A162CF33-3077-4A55-BBEC-CF7D82162B4E}" srcOrd="1" destOrd="0" presId="urn:microsoft.com/office/officeart/2005/8/layout/process3"/>
    <dgm:cxn modelId="{0332BFC8-2590-4C5B-9510-DDED0A84C72A}" type="presParOf" srcId="{A162CF33-3077-4A55-BBEC-CF7D82162B4E}" destId="{C13BAA47-193E-4945-8F2A-E5F88D6AFD27}" srcOrd="0" destOrd="0" presId="urn:microsoft.com/office/officeart/2005/8/layout/process3"/>
    <dgm:cxn modelId="{738AA978-77A6-4DD7-BC50-6852A2EF9A28}" type="presParOf" srcId="{EB0BE4CA-906C-4F89-91E4-C45201D2BDB5}" destId="{17464AEF-D6C3-4F00-AB67-B81972F945E6}" srcOrd="2" destOrd="0" presId="urn:microsoft.com/office/officeart/2005/8/layout/process3"/>
    <dgm:cxn modelId="{7BEFE183-A5F3-4587-9C6A-253B5880E001}" type="presParOf" srcId="{17464AEF-D6C3-4F00-AB67-B81972F945E6}" destId="{FB0FD442-7C31-4F38-8B76-359C8D49D0EE}" srcOrd="0" destOrd="0" presId="urn:microsoft.com/office/officeart/2005/8/layout/process3"/>
    <dgm:cxn modelId="{BE20A402-1995-4BFE-83DF-8F8D8D81446A}" type="presParOf" srcId="{17464AEF-D6C3-4F00-AB67-B81972F945E6}" destId="{37939060-6C72-4139-B20E-2712FAB7D96D}" srcOrd="1" destOrd="0" presId="urn:microsoft.com/office/officeart/2005/8/layout/process3"/>
    <dgm:cxn modelId="{36D2B8BC-B82E-4E38-872F-46FA269DC85B}" type="presParOf" srcId="{17464AEF-D6C3-4F00-AB67-B81972F945E6}" destId="{DE13B66C-8EAB-4D40-8E44-D34DA14322BE}" srcOrd="2" destOrd="0" presId="urn:microsoft.com/office/officeart/2005/8/layout/process3"/>
    <dgm:cxn modelId="{8749F8E5-213E-4B0E-94B8-DD2A8DB7160E}" type="presParOf" srcId="{EB0BE4CA-906C-4F89-91E4-C45201D2BDB5}" destId="{2B2B2386-D2C8-4E34-952B-D4F02831F5BE}" srcOrd="3" destOrd="0" presId="urn:microsoft.com/office/officeart/2005/8/layout/process3"/>
    <dgm:cxn modelId="{9C1DA292-E378-43A1-A03A-85FE8A2834F1}" type="presParOf" srcId="{2B2B2386-D2C8-4E34-952B-D4F02831F5BE}" destId="{F3520E06-2873-48B7-8FCB-2A13ACB65687}" srcOrd="0" destOrd="0" presId="urn:microsoft.com/office/officeart/2005/8/layout/process3"/>
    <dgm:cxn modelId="{C2206E8E-DF35-4A4A-A990-5E5243F1B108}" type="presParOf" srcId="{EB0BE4CA-906C-4F89-91E4-C45201D2BDB5}" destId="{0208E9F3-9A89-4CD6-9D3C-5BEF0AD59F06}" srcOrd="4" destOrd="0" presId="urn:microsoft.com/office/officeart/2005/8/layout/process3"/>
    <dgm:cxn modelId="{42AC5E43-5D42-484E-A69B-4AEC5AF277CA}" type="presParOf" srcId="{0208E9F3-9A89-4CD6-9D3C-5BEF0AD59F06}" destId="{05B300E1-BC2E-49C2-A5DA-E7D685B77AC1}" srcOrd="0" destOrd="0" presId="urn:microsoft.com/office/officeart/2005/8/layout/process3"/>
    <dgm:cxn modelId="{F900EA67-B7DC-4BA8-8F0C-120943510391}" type="presParOf" srcId="{0208E9F3-9A89-4CD6-9D3C-5BEF0AD59F06}" destId="{2D0855E5-0B68-4097-9971-E7251CE77CF0}" srcOrd="1" destOrd="0" presId="urn:microsoft.com/office/officeart/2005/8/layout/process3"/>
    <dgm:cxn modelId="{A2F7FF39-EFB6-43E6-8401-48B2EDE844E9}" type="presParOf" srcId="{0208E9F3-9A89-4CD6-9D3C-5BEF0AD59F06}" destId="{B3F7B5BA-FDAB-4A70-84F7-46CA512F195C}" srcOrd="2" destOrd="0" presId="urn:microsoft.com/office/officeart/2005/8/layout/process3"/>
    <dgm:cxn modelId="{81F13A6D-EA64-402A-98D0-CB9C7E53567B}" type="presParOf" srcId="{EB0BE4CA-906C-4F89-91E4-C45201D2BDB5}" destId="{29656D03-9887-403F-B90B-DA40FF5805B3}" srcOrd="5" destOrd="0" presId="urn:microsoft.com/office/officeart/2005/8/layout/process3"/>
    <dgm:cxn modelId="{8FE79E5A-DE43-47D8-BE99-6506FBE63FA2}" type="presParOf" srcId="{29656D03-9887-403F-B90B-DA40FF5805B3}" destId="{DCE22479-2CE9-4F61-A59A-E14054051331}" srcOrd="0" destOrd="0" presId="urn:microsoft.com/office/officeart/2005/8/layout/process3"/>
    <dgm:cxn modelId="{64CE8680-B422-4EDF-9823-142CBC609069}" type="presParOf" srcId="{EB0BE4CA-906C-4F89-91E4-C45201D2BDB5}" destId="{121847D6-A65A-4576-9497-8986DF06ECEE}" srcOrd="6" destOrd="0" presId="urn:microsoft.com/office/officeart/2005/8/layout/process3"/>
    <dgm:cxn modelId="{3E047B2C-56C8-4589-91B6-52BC75CFBA32}" type="presParOf" srcId="{121847D6-A65A-4576-9497-8986DF06ECEE}" destId="{E6DB779C-51F6-4805-B71E-52EDDB51FC7F}" srcOrd="0" destOrd="0" presId="urn:microsoft.com/office/officeart/2005/8/layout/process3"/>
    <dgm:cxn modelId="{8E756AE8-7240-4FC8-A16E-9998E32813D1}" type="presParOf" srcId="{121847D6-A65A-4576-9497-8986DF06ECEE}" destId="{413AFABD-49AF-42CA-A495-B4C74D8033F1}" srcOrd="1" destOrd="0" presId="urn:microsoft.com/office/officeart/2005/8/layout/process3"/>
    <dgm:cxn modelId="{F09350D1-9E44-4124-8E10-46B9B189C8DB}" type="presParOf" srcId="{121847D6-A65A-4576-9497-8986DF06ECEE}" destId="{4AF8710C-DBBD-4119-A6A0-A1F9E48A2A55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8E8B18-BC01-42C7-B3C1-CDD7F6018FF4}" type="doc">
      <dgm:prSet loTypeId="urn:microsoft.com/office/officeart/2005/8/layout/list1" loCatId="list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74EBAF8C-6DE4-4210-AD57-E713D6DEC46A}">
      <dgm:prSet custT="1"/>
      <dgm:spPr/>
      <dgm:t>
        <a:bodyPr/>
        <a:lstStyle/>
        <a:p>
          <a:r>
            <a:rPr lang="pt-PT" sz="2200" dirty="0">
              <a:solidFill>
                <a:srgbClr val="000000"/>
              </a:solidFill>
              <a:latin typeface="Arial"/>
              <a:ea typeface="+mn-ea"/>
              <a:cs typeface="+mn-cs"/>
            </a:rPr>
            <a:t>Moçambique entra em 2027–2029 com crescimento frágil, e menor apoio externo;</a:t>
          </a:r>
        </a:p>
        <a:p>
          <a:r>
            <a:rPr lang="pt-PT" sz="2200" dirty="0">
              <a:solidFill>
                <a:srgbClr val="000000"/>
              </a:solidFill>
              <a:latin typeface="Arial"/>
              <a:ea typeface="+mn-ea"/>
              <a:cs typeface="+mn-cs"/>
            </a:rPr>
            <a:t>Isso limita a expansão dos serviços de saúde.</a:t>
          </a:r>
          <a:endParaRPr lang="en-US" sz="2200" dirty="0"/>
        </a:p>
      </dgm:t>
    </dgm:pt>
    <dgm:pt modelId="{BBC1CAD2-A792-41B3-91CA-1A631E9FC0D8}" type="parTrans" cxnId="{B8E00918-E0C8-462B-AB85-3FE31EAB117C}">
      <dgm:prSet/>
      <dgm:spPr/>
      <dgm:t>
        <a:bodyPr/>
        <a:lstStyle/>
        <a:p>
          <a:endParaRPr lang="en-US" sz="4000"/>
        </a:p>
      </dgm:t>
    </dgm:pt>
    <dgm:pt modelId="{581E6DAB-137B-49D5-BB4B-154607E607C3}" type="sibTrans" cxnId="{B8E00918-E0C8-462B-AB85-3FE31EAB117C}">
      <dgm:prSet/>
      <dgm:spPr/>
      <dgm:t>
        <a:bodyPr/>
        <a:lstStyle/>
        <a:p>
          <a:endParaRPr lang="en-US" sz="4000"/>
        </a:p>
      </dgm:t>
    </dgm:pt>
    <dgm:pt modelId="{D624C077-0B94-47C4-ADDA-F8970686D5EC}">
      <dgm:prSet custT="1"/>
      <dgm:spPr/>
      <dgm:t>
        <a:bodyPr/>
        <a:lstStyle/>
        <a:p>
          <a:pPr algn="just"/>
          <a:r>
            <a:rPr lang="pt-PT" sz="2200" dirty="0">
              <a:solidFill>
                <a:srgbClr val="000000"/>
              </a:solidFill>
              <a:latin typeface="Arial"/>
              <a:ea typeface="+mn-ea"/>
              <a:cs typeface="+mn-cs"/>
            </a:rPr>
            <a:t>O crescimento populacional e urbanização aumentam a procura por serviços de urgência, saúde materno-infantil e resposta a surtos.</a:t>
          </a:r>
          <a:endParaRPr lang="en-US" sz="2200" dirty="0"/>
        </a:p>
      </dgm:t>
    </dgm:pt>
    <dgm:pt modelId="{C2F54407-C648-4A6C-860A-34083C68CF66}" type="parTrans" cxnId="{7A6D89B3-95E8-45B8-ACAB-EDEFDBC404DD}">
      <dgm:prSet/>
      <dgm:spPr/>
      <dgm:t>
        <a:bodyPr/>
        <a:lstStyle/>
        <a:p>
          <a:endParaRPr lang="en-US" sz="4000"/>
        </a:p>
      </dgm:t>
    </dgm:pt>
    <dgm:pt modelId="{385B023A-4ADF-4EEC-83BF-E75E0448CF55}" type="sibTrans" cxnId="{7A6D89B3-95E8-45B8-ACAB-EDEFDBC404DD}">
      <dgm:prSet/>
      <dgm:spPr/>
      <dgm:t>
        <a:bodyPr/>
        <a:lstStyle/>
        <a:p>
          <a:endParaRPr lang="en-US" sz="4000"/>
        </a:p>
      </dgm:t>
    </dgm:pt>
    <dgm:pt modelId="{45171593-0395-4623-ADC8-2C54B4C0E459}">
      <dgm:prSet custT="1"/>
      <dgm:spPr/>
      <dgm:t>
        <a:bodyPr/>
        <a:lstStyle/>
        <a:p>
          <a:pPr algn="just"/>
          <a:r>
            <a:rPr lang="pt-PT" sz="2200" b="1" dirty="0">
              <a:solidFill>
                <a:srgbClr val="000000"/>
              </a:solidFill>
              <a:latin typeface="Arial"/>
              <a:ea typeface="+mn-ea"/>
              <a:cs typeface="+mn-cs"/>
            </a:rPr>
            <a:t>Doenças continuam a pressionar o sistema</a:t>
          </a:r>
          <a:r>
            <a:rPr lang="pt-PT" sz="2200" dirty="0">
              <a:solidFill>
                <a:srgbClr val="000000"/>
              </a:solidFill>
              <a:latin typeface="Arial"/>
              <a:ea typeface="+mn-ea"/>
              <a:cs typeface="+mn-cs"/>
            </a:rPr>
            <a:t>: Malária, HIV, tuberculose, desnutrição e doenças não transmissíveis mantêm alta carga sobre os serviços de saúde. </a:t>
          </a:r>
          <a:endParaRPr lang="en-US" sz="2200" dirty="0"/>
        </a:p>
      </dgm:t>
    </dgm:pt>
    <dgm:pt modelId="{1C4C8B89-C307-464A-B7A4-403DBCBF93BB}" type="parTrans" cxnId="{C1DAC95A-1D62-4E3E-94FC-FD18117E8FC2}">
      <dgm:prSet/>
      <dgm:spPr/>
      <dgm:t>
        <a:bodyPr/>
        <a:lstStyle/>
        <a:p>
          <a:endParaRPr lang="en-US" sz="4000"/>
        </a:p>
      </dgm:t>
    </dgm:pt>
    <dgm:pt modelId="{7F8EAF6F-3945-46BC-AC16-93448283883E}" type="sibTrans" cxnId="{C1DAC95A-1D62-4E3E-94FC-FD18117E8FC2}">
      <dgm:prSet/>
      <dgm:spPr/>
      <dgm:t>
        <a:bodyPr/>
        <a:lstStyle/>
        <a:p>
          <a:endParaRPr lang="en-US" sz="4000"/>
        </a:p>
      </dgm:t>
    </dgm:pt>
    <dgm:pt modelId="{F38CE64A-5407-4204-8815-0A2530A466AB}">
      <dgm:prSet custT="1"/>
      <dgm:spPr/>
      <dgm:t>
        <a:bodyPr/>
        <a:lstStyle/>
        <a:p>
          <a:pPr algn="just"/>
          <a:r>
            <a:rPr lang="pt-PT" sz="2200" b="1" dirty="0">
              <a:solidFill>
                <a:srgbClr val="000000"/>
              </a:solidFill>
              <a:latin typeface="Arial"/>
              <a:ea typeface="+mn-ea"/>
              <a:cs typeface="+mn-cs"/>
            </a:rPr>
            <a:t>Insuficiência de recursos </a:t>
          </a:r>
          <a:r>
            <a:rPr lang="pt-PT" sz="2200" dirty="0">
              <a:solidFill>
                <a:srgbClr val="000000"/>
              </a:solidFill>
              <a:latin typeface="Arial"/>
              <a:ea typeface="+mn-ea"/>
              <a:cs typeface="+mn-cs"/>
            </a:rPr>
            <a:t>-  profissionais qualificados, equipamentos e medicamentos, exigindo melhor gestão financeira e mais eficiência no uso dos recursos</a:t>
          </a:r>
          <a:endParaRPr lang="en-US" sz="2200" dirty="0"/>
        </a:p>
      </dgm:t>
    </dgm:pt>
    <dgm:pt modelId="{CF8B569B-BC6E-4FDB-8FB2-B00678DFC88E}" type="parTrans" cxnId="{C2C99CC0-B12A-4C20-9ECF-03ABC1C801E4}">
      <dgm:prSet/>
      <dgm:spPr/>
      <dgm:t>
        <a:bodyPr/>
        <a:lstStyle/>
        <a:p>
          <a:endParaRPr lang="en-US" sz="4000"/>
        </a:p>
      </dgm:t>
    </dgm:pt>
    <dgm:pt modelId="{B4A47550-F943-444C-A816-C6216F80C054}" type="sibTrans" cxnId="{C2C99CC0-B12A-4C20-9ECF-03ABC1C801E4}">
      <dgm:prSet/>
      <dgm:spPr/>
      <dgm:t>
        <a:bodyPr/>
        <a:lstStyle/>
        <a:p>
          <a:endParaRPr lang="en-US" sz="4000"/>
        </a:p>
      </dgm:t>
    </dgm:pt>
    <dgm:pt modelId="{5E656A47-EA98-4DF4-A697-D1C10EB5490B}" type="pres">
      <dgm:prSet presAssocID="{B78E8B18-BC01-42C7-B3C1-CDD7F6018FF4}" presName="linear" presStyleCnt="0">
        <dgm:presLayoutVars>
          <dgm:dir/>
          <dgm:animLvl val="lvl"/>
          <dgm:resizeHandles val="exact"/>
        </dgm:presLayoutVars>
      </dgm:prSet>
      <dgm:spPr/>
    </dgm:pt>
    <dgm:pt modelId="{59014613-415C-4232-AA69-3CC34782C03C}" type="pres">
      <dgm:prSet presAssocID="{74EBAF8C-6DE4-4210-AD57-E713D6DEC46A}" presName="parentLin" presStyleCnt="0"/>
      <dgm:spPr/>
    </dgm:pt>
    <dgm:pt modelId="{8EDBB56A-2C35-45E2-9E89-2A89CF926887}" type="pres">
      <dgm:prSet presAssocID="{74EBAF8C-6DE4-4210-AD57-E713D6DEC46A}" presName="parentLeftMargin" presStyleLbl="node1" presStyleIdx="0" presStyleCnt="4"/>
      <dgm:spPr/>
    </dgm:pt>
    <dgm:pt modelId="{F534C906-D164-45EB-903C-367E2F726909}" type="pres">
      <dgm:prSet presAssocID="{74EBAF8C-6DE4-4210-AD57-E713D6DEC46A}" presName="parentText" presStyleLbl="node1" presStyleIdx="0" presStyleCnt="4" custScaleX="142857" custScaleY="135349">
        <dgm:presLayoutVars>
          <dgm:chMax val="0"/>
          <dgm:bulletEnabled val="1"/>
        </dgm:presLayoutVars>
      </dgm:prSet>
      <dgm:spPr/>
    </dgm:pt>
    <dgm:pt modelId="{660876B9-A8F4-4CBF-AFE8-D42FDEA8C750}" type="pres">
      <dgm:prSet presAssocID="{74EBAF8C-6DE4-4210-AD57-E713D6DEC46A}" presName="negativeSpace" presStyleCnt="0"/>
      <dgm:spPr/>
    </dgm:pt>
    <dgm:pt modelId="{B2AB59B0-D41F-426F-A153-EC7BF4FD545F}" type="pres">
      <dgm:prSet presAssocID="{74EBAF8C-6DE4-4210-AD57-E713D6DEC46A}" presName="childText" presStyleLbl="conFgAcc1" presStyleIdx="0" presStyleCnt="4">
        <dgm:presLayoutVars>
          <dgm:bulletEnabled val="1"/>
        </dgm:presLayoutVars>
      </dgm:prSet>
      <dgm:spPr/>
    </dgm:pt>
    <dgm:pt modelId="{154A375D-6FED-4C39-B1FE-53AAFB28E7DE}" type="pres">
      <dgm:prSet presAssocID="{581E6DAB-137B-49D5-BB4B-154607E607C3}" presName="spaceBetweenRectangles" presStyleCnt="0"/>
      <dgm:spPr/>
    </dgm:pt>
    <dgm:pt modelId="{6BBE420E-1363-4C29-969B-0CD22893D745}" type="pres">
      <dgm:prSet presAssocID="{D624C077-0B94-47C4-ADDA-F8970686D5EC}" presName="parentLin" presStyleCnt="0"/>
      <dgm:spPr/>
    </dgm:pt>
    <dgm:pt modelId="{147C2DEB-F0C5-423C-80F9-58BB612CB552}" type="pres">
      <dgm:prSet presAssocID="{D624C077-0B94-47C4-ADDA-F8970686D5EC}" presName="parentLeftMargin" presStyleLbl="node1" presStyleIdx="0" presStyleCnt="4"/>
      <dgm:spPr/>
    </dgm:pt>
    <dgm:pt modelId="{3F4CC4DE-4877-4E31-BFCB-8E23ABF6F7D3}" type="pres">
      <dgm:prSet presAssocID="{D624C077-0B94-47C4-ADDA-F8970686D5EC}" presName="parentText" presStyleLbl="node1" presStyleIdx="1" presStyleCnt="4" custScaleX="142857">
        <dgm:presLayoutVars>
          <dgm:chMax val="0"/>
          <dgm:bulletEnabled val="1"/>
        </dgm:presLayoutVars>
      </dgm:prSet>
      <dgm:spPr/>
    </dgm:pt>
    <dgm:pt modelId="{E949C554-1E84-4BEF-969E-2542D459FD6E}" type="pres">
      <dgm:prSet presAssocID="{D624C077-0B94-47C4-ADDA-F8970686D5EC}" presName="negativeSpace" presStyleCnt="0"/>
      <dgm:spPr/>
    </dgm:pt>
    <dgm:pt modelId="{BA945103-C59C-4A03-B407-834C44919B8D}" type="pres">
      <dgm:prSet presAssocID="{D624C077-0B94-47C4-ADDA-F8970686D5EC}" presName="childText" presStyleLbl="conFgAcc1" presStyleIdx="1" presStyleCnt="4">
        <dgm:presLayoutVars>
          <dgm:bulletEnabled val="1"/>
        </dgm:presLayoutVars>
      </dgm:prSet>
      <dgm:spPr/>
    </dgm:pt>
    <dgm:pt modelId="{4E143BBB-1D1D-462B-BC24-322692440D0C}" type="pres">
      <dgm:prSet presAssocID="{385B023A-4ADF-4EEC-83BF-E75E0448CF55}" presName="spaceBetweenRectangles" presStyleCnt="0"/>
      <dgm:spPr/>
    </dgm:pt>
    <dgm:pt modelId="{72F3CD2A-45E8-4278-B2A8-8ECED34E9199}" type="pres">
      <dgm:prSet presAssocID="{45171593-0395-4623-ADC8-2C54B4C0E459}" presName="parentLin" presStyleCnt="0"/>
      <dgm:spPr/>
    </dgm:pt>
    <dgm:pt modelId="{D5780948-7F52-4A94-A272-4009E0B34B8D}" type="pres">
      <dgm:prSet presAssocID="{45171593-0395-4623-ADC8-2C54B4C0E459}" presName="parentLeftMargin" presStyleLbl="node1" presStyleIdx="1" presStyleCnt="4"/>
      <dgm:spPr/>
    </dgm:pt>
    <dgm:pt modelId="{62F64E86-1742-45DF-90C5-AC0FB54BDBC7}" type="pres">
      <dgm:prSet presAssocID="{45171593-0395-4623-ADC8-2C54B4C0E459}" presName="parentText" presStyleLbl="node1" presStyleIdx="2" presStyleCnt="4" custScaleX="142857">
        <dgm:presLayoutVars>
          <dgm:chMax val="0"/>
          <dgm:bulletEnabled val="1"/>
        </dgm:presLayoutVars>
      </dgm:prSet>
      <dgm:spPr/>
    </dgm:pt>
    <dgm:pt modelId="{E9DD7197-AA0F-4CC2-8967-47F2BC2AF7E7}" type="pres">
      <dgm:prSet presAssocID="{45171593-0395-4623-ADC8-2C54B4C0E459}" presName="negativeSpace" presStyleCnt="0"/>
      <dgm:spPr/>
    </dgm:pt>
    <dgm:pt modelId="{BF9F4A90-98A1-44B1-B504-F12FF1D20715}" type="pres">
      <dgm:prSet presAssocID="{45171593-0395-4623-ADC8-2C54B4C0E459}" presName="childText" presStyleLbl="conFgAcc1" presStyleIdx="2" presStyleCnt="4">
        <dgm:presLayoutVars>
          <dgm:bulletEnabled val="1"/>
        </dgm:presLayoutVars>
      </dgm:prSet>
      <dgm:spPr/>
    </dgm:pt>
    <dgm:pt modelId="{9BBE969E-C66C-4D66-8A76-31A03484988D}" type="pres">
      <dgm:prSet presAssocID="{7F8EAF6F-3945-46BC-AC16-93448283883E}" presName="spaceBetweenRectangles" presStyleCnt="0"/>
      <dgm:spPr/>
    </dgm:pt>
    <dgm:pt modelId="{0FE76013-8F47-417B-BC00-D7D4906884B4}" type="pres">
      <dgm:prSet presAssocID="{F38CE64A-5407-4204-8815-0A2530A466AB}" presName="parentLin" presStyleCnt="0"/>
      <dgm:spPr/>
    </dgm:pt>
    <dgm:pt modelId="{D927A3D0-D137-47A9-A51D-C1AE4A583870}" type="pres">
      <dgm:prSet presAssocID="{F38CE64A-5407-4204-8815-0A2530A466AB}" presName="parentLeftMargin" presStyleLbl="node1" presStyleIdx="2" presStyleCnt="4"/>
      <dgm:spPr/>
    </dgm:pt>
    <dgm:pt modelId="{98032866-6BDF-47E0-AB0E-0F4C4FB11CE7}" type="pres">
      <dgm:prSet presAssocID="{F38CE64A-5407-4204-8815-0A2530A466AB}" presName="parentText" presStyleLbl="node1" presStyleIdx="3" presStyleCnt="4" custScaleX="142857">
        <dgm:presLayoutVars>
          <dgm:chMax val="0"/>
          <dgm:bulletEnabled val="1"/>
        </dgm:presLayoutVars>
      </dgm:prSet>
      <dgm:spPr/>
    </dgm:pt>
    <dgm:pt modelId="{BB089D78-EAE8-41E2-84A6-FC057C335DA1}" type="pres">
      <dgm:prSet presAssocID="{F38CE64A-5407-4204-8815-0A2530A466AB}" presName="negativeSpace" presStyleCnt="0"/>
      <dgm:spPr/>
    </dgm:pt>
    <dgm:pt modelId="{41069DE8-C426-4017-BD40-9D4AD06DE1D4}" type="pres">
      <dgm:prSet presAssocID="{F38CE64A-5407-4204-8815-0A2530A466A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BBAE116-CECE-43A9-AD0C-4820EBB892AA}" type="presOf" srcId="{F38CE64A-5407-4204-8815-0A2530A466AB}" destId="{98032866-6BDF-47E0-AB0E-0F4C4FB11CE7}" srcOrd="1" destOrd="0" presId="urn:microsoft.com/office/officeart/2005/8/layout/list1"/>
    <dgm:cxn modelId="{B8E00918-E0C8-462B-AB85-3FE31EAB117C}" srcId="{B78E8B18-BC01-42C7-B3C1-CDD7F6018FF4}" destId="{74EBAF8C-6DE4-4210-AD57-E713D6DEC46A}" srcOrd="0" destOrd="0" parTransId="{BBC1CAD2-A792-41B3-91CA-1A631E9FC0D8}" sibTransId="{581E6DAB-137B-49D5-BB4B-154607E607C3}"/>
    <dgm:cxn modelId="{3C60632F-27A1-49BD-B51C-01882FD0A50C}" type="presOf" srcId="{74EBAF8C-6DE4-4210-AD57-E713D6DEC46A}" destId="{F534C906-D164-45EB-903C-367E2F726909}" srcOrd="1" destOrd="0" presId="urn:microsoft.com/office/officeart/2005/8/layout/list1"/>
    <dgm:cxn modelId="{89FB4B37-35BB-4EB0-A43F-B0E16F3BBDC9}" type="presOf" srcId="{D624C077-0B94-47C4-ADDA-F8970686D5EC}" destId="{3F4CC4DE-4877-4E31-BFCB-8E23ABF6F7D3}" srcOrd="1" destOrd="0" presId="urn:microsoft.com/office/officeart/2005/8/layout/list1"/>
    <dgm:cxn modelId="{63CA6D6B-0131-4E01-BDA9-EB7F1A69F815}" type="presOf" srcId="{F38CE64A-5407-4204-8815-0A2530A466AB}" destId="{D927A3D0-D137-47A9-A51D-C1AE4A583870}" srcOrd="0" destOrd="0" presId="urn:microsoft.com/office/officeart/2005/8/layout/list1"/>
    <dgm:cxn modelId="{C1DAC95A-1D62-4E3E-94FC-FD18117E8FC2}" srcId="{B78E8B18-BC01-42C7-B3C1-CDD7F6018FF4}" destId="{45171593-0395-4623-ADC8-2C54B4C0E459}" srcOrd="2" destOrd="0" parTransId="{1C4C8B89-C307-464A-B7A4-403DBCBF93BB}" sibTransId="{7F8EAF6F-3945-46BC-AC16-93448283883E}"/>
    <dgm:cxn modelId="{EBF44F85-7D59-46D4-931F-75F6FDE169C6}" type="presOf" srcId="{B78E8B18-BC01-42C7-B3C1-CDD7F6018FF4}" destId="{5E656A47-EA98-4DF4-A697-D1C10EB5490B}" srcOrd="0" destOrd="0" presId="urn:microsoft.com/office/officeart/2005/8/layout/list1"/>
    <dgm:cxn modelId="{7A6D89B3-95E8-45B8-ACAB-EDEFDBC404DD}" srcId="{B78E8B18-BC01-42C7-B3C1-CDD7F6018FF4}" destId="{D624C077-0B94-47C4-ADDA-F8970686D5EC}" srcOrd="1" destOrd="0" parTransId="{C2F54407-C648-4A6C-860A-34083C68CF66}" sibTransId="{385B023A-4ADF-4EEC-83BF-E75E0448CF55}"/>
    <dgm:cxn modelId="{C2C99CC0-B12A-4C20-9ECF-03ABC1C801E4}" srcId="{B78E8B18-BC01-42C7-B3C1-CDD7F6018FF4}" destId="{F38CE64A-5407-4204-8815-0A2530A466AB}" srcOrd="3" destOrd="0" parTransId="{CF8B569B-BC6E-4FDB-8FB2-B00678DFC88E}" sibTransId="{B4A47550-F943-444C-A816-C6216F80C054}"/>
    <dgm:cxn modelId="{CDFA20CF-1D07-4B19-A1CC-982585ACC7CE}" type="presOf" srcId="{45171593-0395-4623-ADC8-2C54B4C0E459}" destId="{D5780948-7F52-4A94-A272-4009E0B34B8D}" srcOrd="0" destOrd="0" presId="urn:microsoft.com/office/officeart/2005/8/layout/list1"/>
    <dgm:cxn modelId="{28ADC7EB-B49D-455D-83BD-56553BF3146D}" type="presOf" srcId="{D624C077-0B94-47C4-ADDA-F8970686D5EC}" destId="{147C2DEB-F0C5-423C-80F9-58BB612CB552}" srcOrd="0" destOrd="0" presId="urn:microsoft.com/office/officeart/2005/8/layout/list1"/>
    <dgm:cxn modelId="{665CE4EF-E3BB-4580-9ED3-8631CD33C7B7}" type="presOf" srcId="{74EBAF8C-6DE4-4210-AD57-E713D6DEC46A}" destId="{8EDBB56A-2C35-45E2-9E89-2A89CF926887}" srcOrd="0" destOrd="0" presId="urn:microsoft.com/office/officeart/2005/8/layout/list1"/>
    <dgm:cxn modelId="{B577DFFE-177F-4C9C-8FAA-98C75EB8EE55}" type="presOf" srcId="{45171593-0395-4623-ADC8-2C54B4C0E459}" destId="{62F64E86-1742-45DF-90C5-AC0FB54BDBC7}" srcOrd="1" destOrd="0" presId="urn:microsoft.com/office/officeart/2005/8/layout/list1"/>
    <dgm:cxn modelId="{7CE14EC2-7D38-4A62-8A61-204652DBE4E5}" type="presParOf" srcId="{5E656A47-EA98-4DF4-A697-D1C10EB5490B}" destId="{59014613-415C-4232-AA69-3CC34782C03C}" srcOrd="0" destOrd="0" presId="urn:microsoft.com/office/officeart/2005/8/layout/list1"/>
    <dgm:cxn modelId="{04FF1CCB-D548-4ED3-A6ED-2311C1D0013A}" type="presParOf" srcId="{59014613-415C-4232-AA69-3CC34782C03C}" destId="{8EDBB56A-2C35-45E2-9E89-2A89CF926887}" srcOrd="0" destOrd="0" presId="urn:microsoft.com/office/officeart/2005/8/layout/list1"/>
    <dgm:cxn modelId="{21A2C4DE-39AC-4A35-ACB2-75B00A9F2B02}" type="presParOf" srcId="{59014613-415C-4232-AA69-3CC34782C03C}" destId="{F534C906-D164-45EB-903C-367E2F726909}" srcOrd="1" destOrd="0" presId="urn:microsoft.com/office/officeart/2005/8/layout/list1"/>
    <dgm:cxn modelId="{7CE6E52E-A7BB-44CD-ADA0-947717DB6585}" type="presParOf" srcId="{5E656A47-EA98-4DF4-A697-D1C10EB5490B}" destId="{660876B9-A8F4-4CBF-AFE8-D42FDEA8C750}" srcOrd="1" destOrd="0" presId="urn:microsoft.com/office/officeart/2005/8/layout/list1"/>
    <dgm:cxn modelId="{64F244EC-1939-41AF-98A9-DEC20F446B75}" type="presParOf" srcId="{5E656A47-EA98-4DF4-A697-D1C10EB5490B}" destId="{B2AB59B0-D41F-426F-A153-EC7BF4FD545F}" srcOrd="2" destOrd="0" presId="urn:microsoft.com/office/officeart/2005/8/layout/list1"/>
    <dgm:cxn modelId="{A7301B03-62C3-4260-9BCB-EE03230A7E59}" type="presParOf" srcId="{5E656A47-EA98-4DF4-A697-D1C10EB5490B}" destId="{154A375D-6FED-4C39-B1FE-53AAFB28E7DE}" srcOrd="3" destOrd="0" presId="urn:microsoft.com/office/officeart/2005/8/layout/list1"/>
    <dgm:cxn modelId="{3E6CF37E-D92B-4DF6-A102-E88341CB8E69}" type="presParOf" srcId="{5E656A47-EA98-4DF4-A697-D1C10EB5490B}" destId="{6BBE420E-1363-4C29-969B-0CD22893D745}" srcOrd="4" destOrd="0" presId="urn:microsoft.com/office/officeart/2005/8/layout/list1"/>
    <dgm:cxn modelId="{E7A59E28-13DF-40ED-8528-70EE9D7FD05F}" type="presParOf" srcId="{6BBE420E-1363-4C29-969B-0CD22893D745}" destId="{147C2DEB-F0C5-423C-80F9-58BB612CB552}" srcOrd="0" destOrd="0" presId="urn:microsoft.com/office/officeart/2005/8/layout/list1"/>
    <dgm:cxn modelId="{9BA4C761-F7C7-4B8B-977B-EE3BBADEF977}" type="presParOf" srcId="{6BBE420E-1363-4C29-969B-0CD22893D745}" destId="{3F4CC4DE-4877-4E31-BFCB-8E23ABF6F7D3}" srcOrd="1" destOrd="0" presId="urn:microsoft.com/office/officeart/2005/8/layout/list1"/>
    <dgm:cxn modelId="{82144A47-610B-4562-89CB-A12A935B532A}" type="presParOf" srcId="{5E656A47-EA98-4DF4-A697-D1C10EB5490B}" destId="{E949C554-1E84-4BEF-969E-2542D459FD6E}" srcOrd="5" destOrd="0" presId="urn:microsoft.com/office/officeart/2005/8/layout/list1"/>
    <dgm:cxn modelId="{BFBBA087-F8AA-44F9-9165-A273617DCC6F}" type="presParOf" srcId="{5E656A47-EA98-4DF4-A697-D1C10EB5490B}" destId="{BA945103-C59C-4A03-B407-834C44919B8D}" srcOrd="6" destOrd="0" presId="urn:microsoft.com/office/officeart/2005/8/layout/list1"/>
    <dgm:cxn modelId="{A91356F5-120F-46E6-BC1F-435457FA1522}" type="presParOf" srcId="{5E656A47-EA98-4DF4-A697-D1C10EB5490B}" destId="{4E143BBB-1D1D-462B-BC24-322692440D0C}" srcOrd="7" destOrd="0" presId="urn:microsoft.com/office/officeart/2005/8/layout/list1"/>
    <dgm:cxn modelId="{05CAD0D3-91AE-4E52-99FD-BC28D33202FF}" type="presParOf" srcId="{5E656A47-EA98-4DF4-A697-D1C10EB5490B}" destId="{72F3CD2A-45E8-4278-B2A8-8ECED34E9199}" srcOrd="8" destOrd="0" presId="urn:microsoft.com/office/officeart/2005/8/layout/list1"/>
    <dgm:cxn modelId="{8F583FC2-8E43-4207-AE70-CEECAB9A9839}" type="presParOf" srcId="{72F3CD2A-45E8-4278-B2A8-8ECED34E9199}" destId="{D5780948-7F52-4A94-A272-4009E0B34B8D}" srcOrd="0" destOrd="0" presId="urn:microsoft.com/office/officeart/2005/8/layout/list1"/>
    <dgm:cxn modelId="{9DEED9EB-6EB6-478D-96FB-82EE0573FEAF}" type="presParOf" srcId="{72F3CD2A-45E8-4278-B2A8-8ECED34E9199}" destId="{62F64E86-1742-45DF-90C5-AC0FB54BDBC7}" srcOrd="1" destOrd="0" presId="urn:microsoft.com/office/officeart/2005/8/layout/list1"/>
    <dgm:cxn modelId="{6742DAF1-E43C-4674-8C70-807BF29AA4D4}" type="presParOf" srcId="{5E656A47-EA98-4DF4-A697-D1C10EB5490B}" destId="{E9DD7197-AA0F-4CC2-8967-47F2BC2AF7E7}" srcOrd="9" destOrd="0" presId="urn:microsoft.com/office/officeart/2005/8/layout/list1"/>
    <dgm:cxn modelId="{070F9544-56BB-4052-B7A3-61FD07BF1DC4}" type="presParOf" srcId="{5E656A47-EA98-4DF4-A697-D1C10EB5490B}" destId="{BF9F4A90-98A1-44B1-B504-F12FF1D20715}" srcOrd="10" destOrd="0" presId="urn:microsoft.com/office/officeart/2005/8/layout/list1"/>
    <dgm:cxn modelId="{530766F6-B823-4E5A-9501-408459E13844}" type="presParOf" srcId="{5E656A47-EA98-4DF4-A697-D1C10EB5490B}" destId="{9BBE969E-C66C-4D66-8A76-31A03484988D}" srcOrd="11" destOrd="0" presId="urn:microsoft.com/office/officeart/2005/8/layout/list1"/>
    <dgm:cxn modelId="{7C32927C-5CFE-48B5-9CD5-07C70D61F22B}" type="presParOf" srcId="{5E656A47-EA98-4DF4-A697-D1C10EB5490B}" destId="{0FE76013-8F47-417B-BC00-D7D4906884B4}" srcOrd="12" destOrd="0" presId="urn:microsoft.com/office/officeart/2005/8/layout/list1"/>
    <dgm:cxn modelId="{B8F62BA3-95C2-46C4-A9A1-1A4B6CE38A1E}" type="presParOf" srcId="{0FE76013-8F47-417B-BC00-D7D4906884B4}" destId="{D927A3D0-D137-47A9-A51D-C1AE4A583870}" srcOrd="0" destOrd="0" presId="urn:microsoft.com/office/officeart/2005/8/layout/list1"/>
    <dgm:cxn modelId="{CE4107C2-E5ED-4A6B-9F41-E205F0F2DB0B}" type="presParOf" srcId="{0FE76013-8F47-417B-BC00-D7D4906884B4}" destId="{98032866-6BDF-47E0-AB0E-0F4C4FB11CE7}" srcOrd="1" destOrd="0" presId="urn:microsoft.com/office/officeart/2005/8/layout/list1"/>
    <dgm:cxn modelId="{E6B9D15A-78BE-4B00-8314-3CA9BC317D08}" type="presParOf" srcId="{5E656A47-EA98-4DF4-A697-D1C10EB5490B}" destId="{BB089D78-EAE8-41E2-84A6-FC057C335DA1}" srcOrd="13" destOrd="0" presId="urn:microsoft.com/office/officeart/2005/8/layout/list1"/>
    <dgm:cxn modelId="{8044C674-5967-48FE-9713-9F22656B2815}" type="presParOf" srcId="{5E656A47-EA98-4DF4-A697-D1C10EB5490B}" destId="{41069DE8-C426-4017-BD40-9D4AD06DE1D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38D4A5-4EBC-4B51-B65E-D95602421EB4}">
      <dsp:nvSpPr>
        <dsp:cNvPr id="0" name=""/>
        <dsp:cNvSpPr/>
      </dsp:nvSpPr>
      <dsp:spPr>
        <a:xfrm>
          <a:off x="17823" y="95517"/>
          <a:ext cx="1910473" cy="11487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b="1" kern="1200" dirty="0">
              <a:latin typeface="Abadi" panose="020B0604020104020204" pitchFamily="34" charset="0"/>
            </a:rPr>
            <a:t>O CFMP é um instrumento trienal, rolante:</a:t>
          </a:r>
        </a:p>
      </dsp:txBody>
      <dsp:txXfrm>
        <a:off x="17823" y="95517"/>
        <a:ext cx="1910473" cy="765063"/>
      </dsp:txXfrm>
    </dsp:sp>
    <dsp:sp modelId="{E91761E9-9B46-4AD1-9778-6FB47EBDF3D5}">
      <dsp:nvSpPr>
        <dsp:cNvPr id="0" name=""/>
        <dsp:cNvSpPr/>
      </dsp:nvSpPr>
      <dsp:spPr>
        <a:xfrm>
          <a:off x="408742" y="956099"/>
          <a:ext cx="1910473" cy="46575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 dirty="0">
              <a:latin typeface="Abadi" panose="020B0604020104020204" pitchFamily="34" charset="0"/>
            </a:rPr>
            <a:t>Orienta prioridades, recursos e limites para o PESOE.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 dirty="0">
              <a:latin typeface="Abadi" panose="020B0604020104020204" pitchFamily="34" charset="0"/>
            </a:rPr>
            <a:t>Melhora  a previsibilidade e permite ajustar a despesa conforme os recursos disponíveis.</a:t>
          </a:r>
        </a:p>
      </dsp:txBody>
      <dsp:txXfrm>
        <a:off x="464698" y="1012055"/>
        <a:ext cx="1798561" cy="4545588"/>
      </dsp:txXfrm>
    </dsp:sp>
    <dsp:sp modelId="{A162CF33-3077-4A55-BBEC-CF7D82162B4E}">
      <dsp:nvSpPr>
        <dsp:cNvPr id="0" name=""/>
        <dsp:cNvSpPr/>
      </dsp:nvSpPr>
      <dsp:spPr>
        <a:xfrm>
          <a:off x="2217853" y="240183"/>
          <a:ext cx="613861" cy="47573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800" b="1" kern="1200">
            <a:latin typeface="Abadi" panose="020B0604020104020204" pitchFamily="34" charset="0"/>
          </a:endParaRPr>
        </a:p>
      </dsp:txBody>
      <dsp:txXfrm>
        <a:off x="2217853" y="335329"/>
        <a:ext cx="471142" cy="285439"/>
      </dsp:txXfrm>
    </dsp:sp>
    <dsp:sp modelId="{37939060-6C72-4139-B20E-2712FAB7D96D}">
      <dsp:nvSpPr>
        <dsp:cNvPr id="0" name=""/>
        <dsp:cNvSpPr/>
      </dsp:nvSpPr>
      <dsp:spPr>
        <a:xfrm>
          <a:off x="3086525" y="95517"/>
          <a:ext cx="1910473" cy="11487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b="1" kern="1200">
              <a:latin typeface="Abadi" panose="020B0604020104020204" pitchFamily="34" charset="0"/>
            </a:rPr>
            <a:t>A proposta do CFM 2027–2029:</a:t>
          </a:r>
        </a:p>
      </dsp:txBody>
      <dsp:txXfrm>
        <a:off x="3086525" y="95517"/>
        <a:ext cx="1910473" cy="765063"/>
      </dsp:txXfrm>
    </dsp:sp>
    <dsp:sp modelId="{DE13B66C-8EAB-4D40-8E44-D34DA14322BE}">
      <dsp:nvSpPr>
        <dsp:cNvPr id="0" name=""/>
        <dsp:cNvSpPr/>
      </dsp:nvSpPr>
      <dsp:spPr>
        <a:xfrm>
          <a:off x="3477445" y="956099"/>
          <a:ext cx="1910473" cy="46575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>
              <a:latin typeface="Abadi" panose="020B0604020104020204" pitchFamily="34" charset="0"/>
            </a:rPr>
            <a:t>Baseia-se nos limites indicativos comunicados pelo Ministério das Finanças.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>
              <a:latin typeface="Abadi" panose="020B0604020104020204" pitchFamily="34" charset="0"/>
            </a:rPr>
            <a:t>Alinha com o PQG 2025–2029 e a ENDE 2025–2044.</a:t>
          </a:r>
        </a:p>
      </dsp:txBody>
      <dsp:txXfrm>
        <a:off x="3533401" y="1012055"/>
        <a:ext cx="1798561" cy="4545588"/>
      </dsp:txXfrm>
    </dsp:sp>
    <dsp:sp modelId="{2B2B2386-D2C8-4E34-952B-D4F02831F5BE}">
      <dsp:nvSpPr>
        <dsp:cNvPr id="0" name=""/>
        <dsp:cNvSpPr/>
      </dsp:nvSpPr>
      <dsp:spPr>
        <a:xfrm>
          <a:off x="5286556" y="240183"/>
          <a:ext cx="613861" cy="47573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800" b="1" kern="1200">
            <a:latin typeface="Abadi" panose="020B0604020104020204" pitchFamily="34" charset="0"/>
          </a:endParaRPr>
        </a:p>
      </dsp:txBody>
      <dsp:txXfrm>
        <a:off x="5286556" y="335329"/>
        <a:ext cx="471142" cy="285439"/>
      </dsp:txXfrm>
    </dsp:sp>
    <dsp:sp modelId="{2D0855E5-0B68-4097-9971-E7251CE77CF0}">
      <dsp:nvSpPr>
        <dsp:cNvPr id="0" name=""/>
        <dsp:cNvSpPr/>
      </dsp:nvSpPr>
      <dsp:spPr>
        <a:xfrm>
          <a:off x="6155227" y="95517"/>
          <a:ext cx="1910473" cy="11487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b="1" kern="1200">
              <a:latin typeface="Abadi" panose="020B0604020104020204" pitchFamily="34" charset="0"/>
            </a:rPr>
            <a:t>Ligação ao ciclo de governação</a:t>
          </a:r>
        </a:p>
      </dsp:txBody>
      <dsp:txXfrm>
        <a:off x="6155227" y="95517"/>
        <a:ext cx="1910473" cy="765063"/>
      </dsp:txXfrm>
    </dsp:sp>
    <dsp:sp modelId="{B3F7B5BA-FDAB-4A70-84F7-46CA512F195C}">
      <dsp:nvSpPr>
        <dsp:cNvPr id="0" name=""/>
        <dsp:cNvSpPr/>
      </dsp:nvSpPr>
      <dsp:spPr>
        <a:xfrm>
          <a:off x="6546147" y="956099"/>
          <a:ext cx="1910473" cy="46575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>
              <a:latin typeface="Abadi" panose="020B0604020104020204" pitchFamily="34" charset="0"/>
            </a:rPr>
            <a:t>Três  últimos anos do quinquénio iniciado em 2025 - exige maior responsabilidade no cumprimento das metas definidas para o mandato.</a:t>
          </a:r>
        </a:p>
      </dsp:txBody>
      <dsp:txXfrm>
        <a:off x="6602103" y="1012055"/>
        <a:ext cx="1798561" cy="4545588"/>
      </dsp:txXfrm>
    </dsp:sp>
    <dsp:sp modelId="{29656D03-9887-403F-B90B-DA40FF5805B3}">
      <dsp:nvSpPr>
        <dsp:cNvPr id="0" name=""/>
        <dsp:cNvSpPr/>
      </dsp:nvSpPr>
      <dsp:spPr>
        <a:xfrm>
          <a:off x="8355258" y="240183"/>
          <a:ext cx="613861" cy="47573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800" b="1" kern="1200">
            <a:latin typeface="Abadi" panose="020B0604020104020204" pitchFamily="34" charset="0"/>
          </a:endParaRPr>
        </a:p>
      </dsp:txBody>
      <dsp:txXfrm>
        <a:off x="8355258" y="335329"/>
        <a:ext cx="471142" cy="285439"/>
      </dsp:txXfrm>
    </dsp:sp>
    <dsp:sp modelId="{413AFABD-49AF-42CA-A495-B4C74D8033F1}">
      <dsp:nvSpPr>
        <dsp:cNvPr id="0" name=""/>
        <dsp:cNvSpPr/>
      </dsp:nvSpPr>
      <dsp:spPr>
        <a:xfrm>
          <a:off x="9223929" y="95517"/>
          <a:ext cx="2329942" cy="11487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b="1" kern="1200" dirty="0">
              <a:latin typeface="Abadi" panose="020B0604020104020204" pitchFamily="34" charset="0"/>
            </a:rPr>
            <a:t>O Foco estratégico do sector da saúde para o triénio 2027-2029: </a:t>
          </a:r>
        </a:p>
      </dsp:txBody>
      <dsp:txXfrm>
        <a:off x="9223929" y="95517"/>
        <a:ext cx="2329942" cy="765063"/>
      </dsp:txXfrm>
    </dsp:sp>
    <dsp:sp modelId="{4AF8710C-DBBD-4119-A6A0-A1F9E48A2A55}">
      <dsp:nvSpPr>
        <dsp:cNvPr id="0" name=""/>
        <dsp:cNvSpPr/>
      </dsp:nvSpPr>
      <dsp:spPr>
        <a:xfrm>
          <a:off x="9617871" y="956098"/>
          <a:ext cx="2323898" cy="46575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 dirty="0">
              <a:latin typeface="Abadi" panose="020B0604020104020204" pitchFamily="34" charset="0"/>
            </a:rPr>
            <a:t>Mantém a prioridade em ampliar o acesso universal a serviços básicos de saúde de qualidade.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1800" b="1" kern="1200" dirty="0">
            <a:latin typeface="Abadi" panose="020B0604020104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>
              <a:latin typeface="Abadi" panose="020B0604020104020204" pitchFamily="34" charset="0"/>
            </a:rPr>
            <a:t>Reforça governação, financiamento, recursos humanos, tecnologia, informação e o sistema de saúde.</a:t>
          </a:r>
        </a:p>
      </dsp:txBody>
      <dsp:txXfrm>
        <a:off x="9685936" y="1024163"/>
        <a:ext cx="2187768" cy="45213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B59B0-D41F-426F-A153-EC7BF4FD545F}">
      <dsp:nvSpPr>
        <dsp:cNvPr id="0" name=""/>
        <dsp:cNvSpPr/>
      </dsp:nvSpPr>
      <dsp:spPr>
        <a:xfrm>
          <a:off x="0" y="713364"/>
          <a:ext cx="10862603" cy="630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534C906-D164-45EB-903C-367E2F726909}">
      <dsp:nvSpPr>
        <dsp:cNvPr id="0" name=""/>
        <dsp:cNvSpPr/>
      </dsp:nvSpPr>
      <dsp:spPr>
        <a:xfrm>
          <a:off x="517140" y="83488"/>
          <a:ext cx="10342800" cy="99887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406" tIns="0" rIns="28740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 dirty="0">
              <a:solidFill>
                <a:srgbClr val="000000"/>
              </a:solidFill>
              <a:latin typeface="Arial"/>
              <a:ea typeface="+mn-ea"/>
              <a:cs typeface="+mn-cs"/>
            </a:rPr>
            <a:t>Moçambique entra em 2027–2029 com crescimento frágil, e menor apoio externo;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 dirty="0">
              <a:solidFill>
                <a:srgbClr val="000000"/>
              </a:solidFill>
              <a:latin typeface="Arial"/>
              <a:ea typeface="+mn-ea"/>
              <a:cs typeface="+mn-cs"/>
            </a:rPr>
            <a:t>Isso limita a expansão dos serviços de saúde.</a:t>
          </a:r>
          <a:endParaRPr lang="en-US" sz="2200" kern="1200" dirty="0"/>
        </a:p>
      </dsp:txBody>
      <dsp:txXfrm>
        <a:off x="565901" y="132249"/>
        <a:ext cx="10245278" cy="901353"/>
      </dsp:txXfrm>
    </dsp:sp>
    <dsp:sp modelId="{BA945103-C59C-4A03-B407-834C44919B8D}">
      <dsp:nvSpPr>
        <dsp:cNvPr id="0" name=""/>
        <dsp:cNvSpPr/>
      </dsp:nvSpPr>
      <dsp:spPr>
        <a:xfrm>
          <a:off x="0" y="1847364"/>
          <a:ext cx="10862603" cy="630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4CC4DE-4877-4E31-BFCB-8E23ABF6F7D3}">
      <dsp:nvSpPr>
        <dsp:cNvPr id="0" name=""/>
        <dsp:cNvSpPr/>
      </dsp:nvSpPr>
      <dsp:spPr>
        <a:xfrm>
          <a:off x="517140" y="1478364"/>
          <a:ext cx="10342800" cy="7380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406" tIns="0" rIns="287406" bIns="0" numCol="1" spcCol="1270" anchor="ctr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 dirty="0">
              <a:solidFill>
                <a:srgbClr val="000000"/>
              </a:solidFill>
              <a:latin typeface="Arial"/>
              <a:ea typeface="+mn-ea"/>
              <a:cs typeface="+mn-cs"/>
            </a:rPr>
            <a:t>O crescimento populacional e urbanização aumentam a procura por serviços de urgência, saúde materno-infantil e resposta a surtos.</a:t>
          </a:r>
          <a:endParaRPr lang="en-US" sz="2200" kern="1200" dirty="0"/>
        </a:p>
      </dsp:txBody>
      <dsp:txXfrm>
        <a:off x="553166" y="1514390"/>
        <a:ext cx="10270748" cy="665948"/>
      </dsp:txXfrm>
    </dsp:sp>
    <dsp:sp modelId="{BF9F4A90-98A1-44B1-B504-F12FF1D20715}">
      <dsp:nvSpPr>
        <dsp:cNvPr id="0" name=""/>
        <dsp:cNvSpPr/>
      </dsp:nvSpPr>
      <dsp:spPr>
        <a:xfrm>
          <a:off x="0" y="2981364"/>
          <a:ext cx="10862603" cy="630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2F64E86-1742-45DF-90C5-AC0FB54BDBC7}">
      <dsp:nvSpPr>
        <dsp:cNvPr id="0" name=""/>
        <dsp:cNvSpPr/>
      </dsp:nvSpPr>
      <dsp:spPr>
        <a:xfrm>
          <a:off x="517140" y="2612364"/>
          <a:ext cx="10342800" cy="7380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406" tIns="0" rIns="287406" bIns="0" numCol="1" spcCol="1270" anchor="ctr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b="1" kern="1200" dirty="0">
              <a:solidFill>
                <a:srgbClr val="000000"/>
              </a:solidFill>
              <a:latin typeface="Arial"/>
              <a:ea typeface="+mn-ea"/>
              <a:cs typeface="+mn-cs"/>
            </a:rPr>
            <a:t>Doenças continuam a pressionar o sistema</a:t>
          </a:r>
          <a:r>
            <a:rPr lang="pt-PT" sz="2200" kern="1200" dirty="0">
              <a:solidFill>
                <a:srgbClr val="000000"/>
              </a:solidFill>
              <a:latin typeface="Arial"/>
              <a:ea typeface="+mn-ea"/>
              <a:cs typeface="+mn-cs"/>
            </a:rPr>
            <a:t>: Malária, HIV, tuberculose, desnutrição e doenças não transmissíveis mantêm alta carga sobre os serviços de saúde. </a:t>
          </a:r>
          <a:endParaRPr lang="en-US" sz="2200" kern="1200" dirty="0"/>
        </a:p>
      </dsp:txBody>
      <dsp:txXfrm>
        <a:off x="553166" y="2648390"/>
        <a:ext cx="10270748" cy="665948"/>
      </dsp:txXfrm>
    </dsp:sp>
    <dsp:sp modelId="{41069DE8-C426-4017-BD40-9D4AD06DE1D4}">
      <dsp:nvSpPr>
        <dsp:cNvPr id="0" name=""/>
        <dsp:cNvSpPr/>
      </dsp:nvSpPr>
      <dsp:spPr>
        <a:xfrm>
          <a:off x="0" y="4115364"/>
          <a:ext cx="10862603" cy="630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8032866-6BDF-47E0-AB0E-0F4C4FB11CE7}">
      <dsp:nvSpPr>
        <dsp:cNvPr id="0" name=""/>
        <dsp:cNvSpPr/>
      </dsp:nvSpPr>
      <dsp:spPr>
        <a:xfrm>
          <a:off x="517140" y="3746364"/>
          <a:ext cx="10342800" cy="7380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406" tIns="0" rIns="287406" bIns="0" numCol="1" spcCol="1270" anchor="ctr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b="1" kern="1200" dirty="0">
              <a:solidFill>
                <a:srgbClr val="000000"/>
              </a:solidFill>
              <a:latin typeface="Arial"/>
              <a:ea typeface="+mn-ea"/>
              <a:cs typeface="+mn-cs"/>
            </a:rPr>
            <a:t>Insuficiência de recursos </a:t>
          </a:r>
          <a:r>
            <a:rPr lang="pt-PT" sz="2200" kern="1200" dirty="0">
              <a:solidFill>
                <a:srgbClr val="000000"/>
              </a:solidFill>
              <a:latin typeface="Arial"/>
              <a:ea typeface="+mn-ea"/>
              <a:cs typeface="+mn-cs"/>
            </a:rPr>
            <a:t>-  profissionais qualificados, equipamentos e medicamentos, exigindo melhor gestão financeira e mais eficiência no uso dos recursos</a:t>
          </a:r>
          <a:endParaRPr lang="en-US" sz="2200" kern="1200" dirty="0"/>
        </a:p>
      </dsp:txBody>
      <dsp:txXfrm>
        <a:off x="553166" y="3782390"/>
        <a:ext cx="10270748" cy="665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207DB-BE02-4709-8EFD-924FD65357E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BEE9-CA43-474A-A7EB-3C589B4B80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7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8CA9D-DD5A-43AB-8151-0F1378B4959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CB122-D5E8-4AC5-A36E-8A3F504BF3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4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9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1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1653691" y="4293521"/>
            <a:ext cx="8884618" cy="861774"/>
          </a:xfrm>
          <a:prstGeom prst="rect">
            <a:avLst/>
          </a:prstGeom>
          <a:solidFill>
            <a:schemeClr val="accent3">
              <a:lumMod val="40000"/>
              <a:lumOff val="60000"/>
              <a:alpha val="19000"/>
            </a:schemeClr>
          </a:solidFill>
          <a:ln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lIns="0" tIns="0" rIns="0" bIns="0" rtlCol="0" anchor="t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Lema: </a:t>
            </a:r>
            <a:r>
              <a:rPr lang="pt-BR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Único Plano, Único Orçamento, Única Monitoria e Avaliação</a:t>
            </a:r>
            <a:endParaRPr lang="en-US" sz="2800" b="1" i="1" dirty="0" err="1">
              <a:solidFill>
                <a:schemeClr val="bg1"/>
              </a:solidFill>
              <a:latin typeface="Garet Bold Italics"/>
              <a:ea typeface="Garet Bold Italics"/>
              <a:cs typeface="Garet Bold Italics"/>
              <a:sym typeface="Garet Bold Italics"/>
            </a:endParaRPr>
          </a:p>
        </p:txBody>
      </p:sp>
      <p:sp>
        <p:nvSpPr>
          <p:cNvPr id="7" name="TextBox 11"/>
          <p:cNvSpPr txBox="1"/>
          <p:nvPr userDrawn="1"/>
        </p:nvSpPr>
        <p:spPr>
          <a:xfrm>
            <a:off x="4369248" y="6416554"/>
            <a:ext cx="3453504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Julho</a:t>
            </a: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4351868" y="1473198"/>
            <a:ext cx="3184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411744" y="1794928"/>
            <a:ext cx="2648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pic>
        <p:nvPicPr>
          <p:cNvPr id="12" name="Picture 11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35361"/>
            <a:ext cx="1266825" cy="790575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123629" y="1593209"/>
            <a:ext cx="7944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 DA CIDADE</a:t>
            </a:r>
            <a:endParaRPr lang="pt-PT" alt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7" y="5539444"/>
            <a:ext cx="1249638" cy="12800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7" descr="C:\Users\DACUNHA\Pictures\image_preview.png">
            <a:extLst>
              <a:ext uri="{FF2B5EF4-FFF2-40B4-BE49-F238E27FC236}">
                <a16:creationId xmlns:a16="http://schemas.microsoft.com/office/drawing/2014/main" id="{7966F097-C494-9405-7026-9A44F68DBA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026" y="522190"/>
            <a:ext cx="1283948" cy="101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E896824-9F5F-ECDD-06B3-0298E710BE34}"/>
              </a:ext>
            </a:extLst>
          </p:cNvPr>
          <p:cNvSpPr>
            <a:spLocks noGrp="1"/>
          </p:cNvSpPr>
          <p:nvPr userDrawn="1"/>
        </p:nvSpPr>
        <p:spPr>
          <a:xfrm>
            <a:off x="276225" y="3140425"/>
            <a:ext cx="11639550" cy="79362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Reunião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Planificação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Integrada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PESOE 2027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62BC6-A733-39D4-0B7D-1F1A97803A1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20000"/>
                <a:lumOff val="80000"/>
                <a:alpha val="16000"/>
              </a:schemeClr>
            </a:gs>
            <a:gs pos="9700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0740269" y="4067175"/>
            <a:ext cx="1296987" cy="2790825"/>
            <a:chOff x="9206969" y="2963333"/>
            <a:chExt cx="2981858" cy="3208867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8" Type="http://schemas.openxmlformats.org/officeDocument/2006/relationships/tags" Target="../tags/tag9.xml"/><Relationship Id="rId3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 txBox="1">
            <a:spLocks noChangeArrowheads="1"/>
          </p:cNvSpPr>
          <p:nvPr/>
        </p:nvSpPr>
        <p:spPr bwMode="auto">
          <a:xfrm>
            <a:off x="1204119" y="5995030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Julho de 2026</a:t>
            </a:r>
            <a:endParaRPr lang="en-US" altLang="en-US" sz="2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585294" y="1255844"/>
            <a:ext cx="70214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SERIVOS DE REPRESENTAÇÃO DO ESTADO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 DA CIDADE</a:t>
            </a:r>
            <a:endParaRPr lang="pt-PT" alt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446" y="285750"/>
            <a:ext cx="1233109" cy="97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1173481" y="3423043"/>
            <a:ext cx="9919062" cy="120032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lnSpc>
                <a:spcPct val="99964"/>
              </a:lnSpc>
            </a:pPr>
            <a:r>
              <a:rPr lang="pt-BR" sz="3200" b="1" cap="all" dirty="0"/>
              <a:t>CENARIO FISCAL DE MÉDIO PRAZO </a:t>
            </a:r>
            <a:r>
              <a:rPr lang="pt-BR" sz="3200" dirty="0"/>
              <a:t>​</a:t>
            </a:r>
            <a:br>
              <a:rPr lang="pt-BR" sz="3200" dirty="0"/>
            </a:br>
            <a:r>
              <a:rPr lang="pt-BR" sz="3200" b="1" cap="all" dirty="0"/>
              <a:t>2027-2029</a:t>
            </a:r>
            <a:r>
              <a:rPr lang="pt-BR" sz="3200" dirty="0"/>
              <a:t>​</a:t>
            </a:r>
            <a:endParaRPr lang="pt-BR" sz="3200" b="1" i="1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354914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Conteúdos de Apresentação 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3207FF8A-30B7-88A7-D76A-B1CFEB8A49B7}"/>
              </a:ext>
            </a:extLst>
          </p:cNvPr>
          <p:cNvGrpSpPr/>
          <p:nvPr/>
        </p:nvGrpSpPr>
        <p:grpSpPr>
          <a:xfrm>
            <a:off x="475980" y="5480593"/>
            <a:ext cx="972212" cy="1094724"/>
            <a:chOff x="924253" y="3798178"/>
            <a:chExt cx="1063673" cy="1855651"/>
          </a:xfrm>
        </p:grpSpPr>
        <p:sp>
          <p:nvSpPr>
            <p:cNvPr id="3" name="Freeform: Shape 90">
              <a:extLst>
                <a:ext uri="{FF2B5EF4-FFF2-40B4-BE49-F238E27FC236}">
                  <a16:creationId xmlns:a16="http://schemas.microsoft.com/office/drawing/2014/main" id="{EC93C6D7-62D3-BCB0-53E9-874BE7B36017}"/>
                </a:ext>
              </a:extLst>
            </p:cNvPr>
            <p:cNvSpPr/>
            <p:nvPr/>
          </p:nvSpPr>
          <p:spPr>
            <a:xfrm rot="5400000">
              <a:off x="528264" y="4194167"/>
              <a:ext cx="1855651" cy="1063673"/>
            </a:xfrm>
            <a:custGeom>
              <a:avLst/>
              <a:gdLst>
                <a:gd name="connsiteX0" fmla="*/ 0 w 2019631"/>
                <a:gd name="connsiteY0" fmla="*/ 991047 h 1063673"/>
                <a:gd name="connsiteX1" fmla="*/ 0 w 2019631"/>
                <a:gd name="connsiteY1" fmla="*/ 977934 h 1063673"/>
                <a:gd name="connsiteX2" fmla="*/ 0 w 2019631"/>
                <a:gd name="connsiteY2" fmla="*/ 85739 h 1063673"/>
                <a:gd name="connsiteX3" fmla="*/ 0 w 2019631"/>
                <a:gd name="connsiteY3" fmla="*/ 72626 h 1063673"/>
                <a:gd name="connsiteX4" fmla="*/ 1849 w 2019631"/>
                <a:gd name="connsiteY4" fmla="*/ 72626 h 1063673"/>
                <a:gd name="connsiteX5" fmla="*/ 2435 w 2019631"/>
                <a:gd name="connsiteY5" fmla="*/ 68461 h 1063673"/>
                <a:gd name="connsiteX6" fmla="*/ 119864 w 2019631"/>
                <a:gd name="connsiteY6" fmla="*/ 0 h 1063673"/>
                <a:gd name="connsiteX7" fmla="*/ 211430 w 2019631"/>
                <a:gd name="connsiteY7" fmla="*/ 0 h 1063673"/>
                <a:gd name="connsiteX8" fmla="*/ 239728 w 2019631"/>
                <a:gd name="connsiteY8" fmla="*/ 0 h 1063673"/>
                <a:gd name="connsiteX9" fmla="*/ 1054718 w 2019631"/>
                <a:gd name="connsiteY9" fmla="*/ 0 h 1063673"/>
                <a:gd name="connsiteX10" fmla="*/ 1057343 w 2019631"/>
                <a:gd name="connsiteY10" fmla="*/ 2969 h 1063673"/>
                <a:gd name="connsiteX11" fmla="*/ 1732955 w 2019631"/>
                <a:gd name="connsiteY11" fmla="*/ 2969 h 1063673"/>
                <a:gd name="connsiteX12" fmla="*/ 2019631 w 2019631"/>
                <a:gd name="connsiteY12" fmla="*/ 533321 h 1063673"/>
                <a:gd name="connsiteX13" fmla="*/ 1732955 w 2019631"/>
                <a:gd name="connsiteY13" fmla="*/ 1063673 h 1063673"/>
                <a:gd name="connsiteX14" fmla="*/ 1054718 w 2019631"/>
                <a:gd name="connsiteY14" fmla="*/ 1063673 h 1063673"/>
                <a:gd name="connsiteX15" fmla="*/ 239728 w 2019631"/>
                <a:gd name="connsiteY15" fmla="*/ 1063673 h 1063673"/>
                <a:gd name="connsiteX16" fmla="*/ 211430 w 2019631"/>
                <a:gd name="connsiteY16" fmla="*/ 1063673 h 1063673"/>
                <a:gd name="connsiteX17" fmla="*/ 158006 w 2019631"/>
                <a:gd name="connsiteY17" fmla="*/ 1063673 h 1063673"/>
                <a:gd name="connsiteX18" fmla="*/ 119864 w 2019631"/>
                <a:gd name="connsiteY18" fmla="*/ 1063673 h 1063673"/>
                <a:gd name="connsiteX19" fmla="*/ 2435 w 2019631"/>
                <a:gd name="connsiteY19" fmla="*/ 995212 h 1063673"/>
                <a:gd name="connsiteX20" fmla="*/ 1849 w 2019631"/>
                <a:gd name="connsiteY20" fmla="*/ 991047 h 10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19631" h="1063673">
                  <a:moveTo>
                    <a:pt x="0" y="991047"/>
                  </a:moveTo>
                  <a:lnTo>
                    <a:pt x="0" y="977934"/>
                  </a:lnTo>
                  <a:lnTo>
                    <a:pt x="0" y="85739"/>
                  </a:lnTo>
                  <a:lnTo>
                    <a:pt x="0" y="72626"/>
                  </a:lnTo>
                  <a:lnTo>
                    <a:pt x="1849" y="72626"/>
                  </a:lnTo>
                  <a:lnTo>
                    <a:pt x="2435" y="68461"/>
                  </a:lnTo>
                  <a:cubicBezTo>
                    <a:pt x="13613" y="29390"/>
                    <a:pt x="61940" y="0"/>
                    <a:pt x="119864" y="0"/>
                  </a:cubicBezTo>
                  <a:lnTo>
                    <a:pt x="211430" y="0"/>
                  </a:lnTo>
                  <a:lnTo>
                    <a:pt x="239728" y="0"/>
                  </a:lnTo>
                  <a:lnTo>
                    <a:pt x="1054718" y="0"/>
                  </a:lnTo>
                  <a:lnTo>
                    <a:pt x="1057343" y="2969"/>
                  </a:lnTo>
                  <a:lnTo>
                    <a:pt x="1732955" y="2969"/>
                  </a:lnTo>
                  <a:lnTo>
                    <a:pt x="2019631" y="533321"/>
                  </a:lnTo>
                  <a:lnTo>
                    <a:pt x="1732955" y="1063673"/>
                  </a:lnTo>
                  <a:lnTo>
                    <a:pt x="1054718" y="1063673"/>
                  </a:lnTo>
                  <a:lnTo>
                    <a:pt x="239728" y="1063673"/>
                  </a:lnTo>
                  <a:lnTo>
                    <a:pt x="211430" y="1063673"/>
                  </a:lnTo>
                  <a:lnTo>
                    <a:pt x="158006" y="1063673"/>
                  </a:lnTo>
                  <a:lnTo>
                    <a:pt x="119864" y="1063673"/>
                  </a:lnTo>
                  <a:cubicBezTo>
                    <a:pt x="61940" y="1063673"/>
                    <a:pt x="13613" y="1034283"/>
                    <a:pt x="2435" y="995212"/>
                  </a:cubicBezTo>
                  <a:lnTo>
                    <a:pt x="1849" y="991047"/>
                  </a:lnTo>
                  <a:close/>
                </a:path>
              </a:pathLst>
            </a:custGeom>
            <a:solidFill>
              <a:srgbClr val="536E79"/>
            </a:solidFill>
            <a:ln w="19050" cap="flat" cmpd="sng" algn="ctr">
              <a:solidFill>
                <a:srgbClr val="536E79"/>
              </a:solidFill>
              <a:prstDash val="solid"/>
              <a:miter lim="800000"/>
            </a:ln>
            <a:effectLst>
              <a:outerShdw blurRad="127000" dist="152400" dir="6000000" sx="90000" sy="-19000" rotWithShape="0">
                <a:prstClr val="black">
                  <a:alpha val="23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>
                <a:buClrTx/>
                <a:buFontTx/>
                <a:buNone/>
                <a:defRPr/>
              </a:pPr>
              <a:endParaRPr lang="en-US" sz="1800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sp>
          <p:nvSpPr>
            <p:cNvPr id="4" name="TextBox 44">
              <a:extLst>
                <a:ext uri="{FF2B5EF4-FFF2-40B4-BE49-F238E27FC236}">
                  <a16:creationId xmlns:a16="http://schemas.microsoft.com/office/drawing/2014/main" id="{669A03DE-FCD6-D53D-589A-C9987C7C2BD4}"/>
                </a:ext>
              </a:extLst>
            </p:cNvPr>
            <p:cNvSpPr txBox="1"/>
            <p:nvPr/>
          </p:nvSpPr>
          <p:spPr>
            <a:xfrm>
              <a:off x="939400" y="4043073"/>
              <a:ext cx="1048526" cy="759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  <a:defRPr/>
              </a:pPr>
              <a:r>
                <a:rPr lang="en-US" sz="3200" b="1" dirty="0">
                  <a:solidFill>
                    <a:prstClr val="white"/>
                  </a:solidFill>
                  <a:latin typeface="Aptos" panose="02110004020202020204"/>
                </a:rPr>
                <a:t>V</a:t>
              </a:r>
            </a:p>
          </p:txBody>
        </p:sp>
      </p:grpSp>
      <p:grpSp>
        <p:nvGrpSpPr>
          <p:cNvPr id="5" name="Group 46">
            <a:extLst>
              <a:ext uri="{FF2B5EF4-FFF2-40B4-BE49-F238E27FC236}">
                <a16:creationId xmlns:a16="http://schemas.microsoft.com/office/drawing/2014/main" id="{9873B7E2-2420-B5D9-FCC0-BD021C3110AD}"/>
              </a:ext>
            </a:extLst>
          </p:cNvPr>
          <p:cNvGrpSpPr/>
          <p:nvPr/>
        </p:nvGrpSpPr>
        <p:grpSpPr>
          <a:xfrm>
            <a:off x="483185" y="4674817"/>
            <a:ext cx="978174" cy="711415"/>
            <a:chOff x="924252" y="2393940"/>
            <a:chExt cx="1078188" cy="1855652"/>
          </a:xfrm>
          <a:solidFill>
            <a:srgbClr val="00B050"/>
          </a:solidFill>
        </p:grpSpPr>
        <p:sp>
          <p:nvSpPr>
            <p:cNvPr id="8" name="Freeform: Shape 47">
              <a:extLst>
                <a:ext uri="{FF2B5EF4-FFF2-40B4-BE49-F238E27FC236}">
                  <a16:creationId xmlns:a16="http://schemas.microsoft.com/office/drawing/2014/main" id="{CCA9AF9D-8666-042B-FDCF-A6A79AAB172D}"/>
                </a:ext>
              </a:extLst>
            </p:cNvPr>
            <p:cNvSpPr/>
            <p:nvPr/>
          </p:nvSpPr>
          <p:spPr>
            <a:xfrm rot="5400000">
              <a:off x="528263" y="2789929"/>
              <a:ext cx="1855652" cy="1063673"/>
            </a:xfrm>
            <a:custGeom>
              <a:avLst/>
              <a:gdLst>
                <a:gd name="connsiteX0" fmla="*/ 0 w 2019631"/>
                <a:gd name="connsiteY0" fmla="*/ 991047 h 1063673"/>
                <a:gd name="connsiteX1" fmla="*/ 0 w 2019631"/>
                <a:gd name="connsiteY1" fmla="*/ 977934 h 1063673"/>
                <a:gd name="connsiteX2" fmla="*/ 0 w 2019631"/>
                <a:gd name="connsiteY2" fmla="*/ 85739 h 1063673"/>
                <a:gd name="connsiteX3" fmla="*/ 0 w 2019631"/>
                <a:gd name="connsiteY3" fmla="*/ 72626 h 1063673"/>
                <a:gd name="connsiteX4" fmla="*/ 1849 w 2019631"/>
                <a:gd name="connsiteY4" fmla="*/ 72626 h 1063673"/>
                <a:gd name="connsiteX5" fmla="*/ 2435 w 2019631"/>
                <a:gd name="connsiteY5" fmla="*/ 68461 h 1063673"/>
                <a:gd name="connsiteX6" fmla="*/ 119864 w 2019631"/>
                <a:gd name="connsiteY6" fmla="*/ 0 h 1063673"/>
                <a:gd name="connsiteX7" fmla="*/ 211430 w 2019631"/>
                <a:gd name="connsiteY7" fmla="*/ 0 h 1063673"/>
                <a:gd name="connsiteX8" fmla="*/ 239728 w 2019631"/>
                <a:gd name="connsiteY8" fmla="*/ 0 h 1063673"/>
                <a:gd name="connsiteX9" fmla="*/ 1054718 w 2019631"/>
                <a:gd name="connsiteY9" fmla="*/ 0 h 1063673"/>
                <a:gd name="connsiteX10" fmla="*/ 1057343 w 2019631"/>
                <a:gd name="connsiteY10" fmla="*/ 2969 h 1063673"/>
                <a:gd name="connsiteX11" fmla="*/ 1732955 w 2019631"/>
                <a:gd name="connsiteY11" fmla="*/ 2969 h 1063673"/>
                <a:gd name="connsiteX12" fmla="*/ 2019631 w 2019631"/>
                <a:gd name="connsiteY12" fmla="*/ 533321 h 1063673"/>
                <a:gd name="connsiteX13" fmla="*/ 1732955 w 2019631"/>
                <a:gd name="connsiteY13" fmla="*/ 1063673 h 1063673"/>
                <a:gd name="connsiteX14" fmla="*/ 1054718 w 2019631"/>
                <a:gd name="connsiteY14" fmla="*/ 1063673 h 1063673"/>
                <a:gd name="connsiteX15" fmla="*/ 239728 w 2019631"/>
                <a:gd name="connsiteY15" fmla="*/ 1063673 h 1063673"/>
                <a:gd name="connsiteX16" fmla="*/ 211430 w 2019631"/>
                <a:gd name="connsiteY16" fmla="*/ 1063673 h 1063673"/>
                <a:gd name="connsiteX17" fmla="*/ 158006 w 2019631"/>
                <a:gd name="connsiteY17" fmla="*/ 1063673 h 1063673"/>
                <a:gd name="connsiteX18" fmla="*/ 119864 w 2019631"/>
                <a:gd name="connsiteY18" fmla="*/ 1063673 h 1063673"/>
                <a:gd name="connsiteX19" fmla="*/ 2435 w 2019631"/>
                <a:gd name="connsiteY19" fmla="*/ 995212 h 1063673"/>
                <a:gd name="connsiteX20" fmla="*/ 1849 w 2019631"/>
                <a:gd name="connsiteY20" fmla="*/ 991047 h 10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19631" h="1063673">
                  <a:moveTo>
                    <a:pt x="0" y="991047"/>
                  </a:moveTo>
                  <a:lnTo>
                    <a:pt x="0" y="977934"/>
                  </a:lnTo>
                  <a:lnTo>
                    <a:pt x="0" y="85739"/>
                  </a:lnTo>
                  <a:lnTo>
                    <a:pt x="0" y="72626"/>
                  </a:lnTo>
                  <a:lnTo>
                    <a:pt x="1849" y="72626"/>
                  </a:lnTo>
                  <a:lnTo>
                    <a:pt x="2435" y="68461"/>
                  </a:lnTo>
                  <a:cubicBezTo>
                    <a:pt x="13613" y="29390"/>
                    <a:pt x="61940" y="0"/>
                    <a:pt x="119864" y="0"/>
                  </a:cubicBezTo>
                  <a:lnTo>
                    <a:pt x="211430" y="0"/>
                  </a:lnTo>
                  <a:lnTo>
                    <a:pt x="239728" y="0"/>
                  </a:lnTo>
                  <a:lnTo>
                    <a:pt x="1054718" y="0"/>
                  </a:lnTo>
                  <a:lnTo>
                    <a:pt x="1057343" y="2969"/>
                  </a:lnTo>
                  <a:lnTo>
                    <a:pt x="1732955" y="2969"/>
                  </a:lnTo>
                  <a:lnTo>
                    <a:pt x="2019631" y="533321"/>
                  </a:lnTo>
                  <a:lnTo>
                    <a:pt x="1732955" y="1063673"/>
                  </a:lnTo>
                  <a:lnTo>
                    <a:pt x="1054718" y="1063673"/>
                  </a:lnTo>
                  <a:lnTo>
                    <a:pt x="239728" y="1063673"/>
                  </a:lnTo>
                  <a:lnTo>
                    <a:pt x="211430" y="1063673"/>
                  </a:lnTo>
                  <a:lnTo>
                    <a:pt x="158006" y="1063673"/>
                  </a:lnTo>
                  <a:lnTo>
                    <a:pt x="119864" y="1063673"/>
                  </a:lnTo>
                  <a:cubicBezTo>
                    <a:pt x="61940" y="1063673"/>
                    <a:pt x="13613" y="1034283"/>
                    <a:pt x="2435" y="995212"/>
                  </a:cubicBezTo>
                  <a:lnTo>
                    <a:pt x="1849" y="991047"/>
                  </a:lnTo>
                  <a:close/>
                </a:path>
              </a:pathLst>
            </a:custGeom>
            <a:grpFill/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>
              <a:outerShdw blurRad="50800" dist="63500" dir="5400000" sx="102000" sy="102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>
                <a:buClrTx/>
                <a:buFontTx/>
                <a:buNone/>
                <a:defRPr/>
              </a:pPr>
              <a:endParaRPr lang="en-US" sz="1800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sp>
          <p:nvSpPr>
            <p:cNvPr id="9" name="TextBox 48">
              <a:extLst>
                <a:ext uri="{FF2B5EF4-FFF2-40B4-BE49-F238E27FC236}">
                  <a16:creationId xmlns:a16="http://schemas.microsoft.com/office/drawing/2014/main" id="{BEB48D1C-A3D5-EEF4-4E80-F356C9EF540B}"/>
                </a:ext>
              </a:extLst>
            </p:cNvPr>
            <p:cNvSpPr txBox="1"/>
            <p:nvPr/>
          </p:nvSpPr>
          <p:spPr>
            <a:xfrm>
              <a:off x="953915" y="2748682"/>
              <a:ext cx="1048525" cy="7596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defRPr/>
              </a:pPr>
              <a:r>
                <a:rPr lang="en-US" sz="3200" b="1" dirty="0">
                  <a:solidFill>
                    <a:prstClr val="white"/>
                  </a:solidFill>
                  <a:latin typeface="Aptos" panose="02110004020202020204"/>
                </a:rPr>
                <a:t>IV</a:t>
              </a:r>
            </a:p>
          </p:txBody>
        </p:sp>
      </p:grpSp>
      <p:grpSp>
        <p:nvGrpSpPr>
          <p:cNvPr id="10" name="Group 4">
            <a:extLst>
              <a:ext uri="{FF2B5EF4-FFF2-40B4-BE49-F238E27FC236}">
                <a16:creationId xmlns:a16="http://schemas.microsoft.com/office/drawing/2014/main" id="{2B3300EB-DAC3-2BE0-0D94-23073F52D05A}"/>
              </a:ext>
            </a:extLst>
          </p:cNvPr>
          <p:cNvGrpSpPr/>
          <p:nvPr/>
        </p:nvGrpSpPr>
        <p:grpSpPr>
          <a:xfrm>
            <a:off x="503072" y="3767927"/>
            <a:ext cx="978662" cy="828009"/>
            <a:chOff x="924253" y="2677909"/>
            <a:chExt cx="1078726" cy="1855651"/>
          </a:xfrm>
        </p:grpSpPr>
        <p:sp>
          <p:nvSpPr>
            <p:cNvPr id="11" name="Freeform: Shape 89">
              <a:extLst>
                <a:ext uri="{FF2B5EF4-FFF2-40B4-BE49-F238E27FC236}">
                  <a16:creationId xmlns:a16="http://schemas.microsoft.com/office/drawing/2014/main" id="{E3560861-8B38-583E-D8BC-CE5B7442CC36}"/>
                </a:ext>
              </a:extLst>
            </p:cNvPr>
            <p:cNvSpPr/>
            <p:nvPr/>
          </p:nvSpPr>
          <p:spPr>
            <a:xfrm rot="5400000">
              <a:off x="528264" y="3073898"/>
              <a:ext cx="1855651" cy="1063673"/>
            </a:xfrm>
            <a:custGeom>
              <a:avLst/>
              <a:gdLst>
                <a:gd name="connsiteX0" fmla="*/ 0 w 2019631"/>
                <a:gd name="connsiteY0" fmla="*/ 991047 h 1063673"/>
                <a:gd name="connsiteX1" fmla="*/ 0 w 2019631"/>
                <a:gd name="connsiteY1" fmla="*/ 977934 h 1063673"/>
                <a:gd name="connsiteX2" fmla="*/ 0 w 2019631"/>
                <a:gd name="connsiteY2" fmla="*/ 85739 h 1063673"/>
                <a:gd name="connsiteX3" fmla="*/ 0 w 2019631"/>
                <a:gd name="connsiteY3" fmla="*/ 72626 h 1063673"/>
                <a:gd name="connsiteX4" fmla="*/ 1849 w 2019631"/>
                <a:gd name="connsiteY4" fmla="*/ 72626 h 1063673"/>
                <a:gd name="connsiteX5" fmla="*/ 2435 w 2019631"/>
                <a:gd name="connsiteY5" fmla="*/ 68461 h 1063673"/>
                <a:gd name="connsiteX6" fmla="*/ 119864 w 2019631"/>
                <a:gd name="connsiteY6" fmla="*/ 0 h 1063673"/>
                <a:gd name="connsiteX7" fmla="*/ 211430 w 2019631"/>
                <a:gd name="connsiteY7" fmla="*/ 0 h 1063673"/>
                <a:gd name="connsiteX8" fmla="*/ 239728 w 2019631"/>
                <a:gd name="connsiteY8" fmla="*/ 0 h 1063673"/>
                <a:gd name="connsiteX9" fmla="*/ 1054718 w 2019631"/>
                <a:gd name="connsiteY9" fmla="*/ 0 h 1063673"/>
                <a:gd name="connsiteX10" fmla="*/ 1057343 w 2019631"/>
                <a:gd name="connsiteY10" fmla="*/ 2969 h 1063673"/>
                <a:gd name="connsiteX11" fmla="*/ 1732955 w 2019631"/>
                <a:gd name="connsiteY11" fmla="*/ 2969 h 1063673"/>
                <a:gd name="connsiteX12" fmla="*/ 2019631 w 2019631"/>
                <a:gd name="connsiteY12" fmla="*/ 533321 h 1063673"/>
                <a:gd name="connsiteX13" fmla="*/ 1732955 w 2019631"/>
                <a:gd name="connsiteY13" fmla="*/ 1063673 h 1063673"/>
                <a:gd name="connsiteX14" fmla="*/ 1054718 w 2019631"/>
                <a:gd name="connsiteY14" fmla="*/ 1063673 h 1063673"/>
                <a:gd name="connsiteX15" fmla="*/ 239728 w 2019631"/>
                <a:gd name="connsiteY15" fmla="*/ 1063673 h 1063673"/>
                <a:gd name="connsiteX16" fmla="*/ 211430 w 2019631"/>
                <a:gd name="connsiteY16" fmla="*/ 1063673 h 1063673"/>
                <a:gd name="connsiteX17" fmla="*/ 158006 w 2019631"/>
                <a:gd name="connsiteY17" fmla="*/ 1063673 h 1063673"/>
                <a:gd name="connsiteX18" fmla="*/ 119864 w 2019631"/>
                <a:gd name="connsiteY18" fmla="*/ 1063673 h 1063673"/>
                <a:gd name="connsiteX19" fmla="*/ 2435 w 2019631"/>
                <a:gd name="connsiteY19" fmla="*/ 995212 h 1063673"/>
                <a:gd name="connsiteX20" fmla="*/ 1849 w 2019631"/>
                <a:gd name="connsiteY20" fmla="*/ 991047 h 10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19631" h="1063673">
                  <a:moveTo>
                    <a:pt x="0" y="991047"/>
                  </a:moveTo>
                  <a:lnTo>
                    <a:pt x="0" y="977934"/>
                  </a:lnTo>
                  <a:lnTo>
                    <a:pt x="0" y="85739"/>
                  </a:lnTo>
                  <a:lnTo>
                    <a:pt x="0" y="72626"/>
                  </a:lnTo>
                  <a:lnTo>
                    <a:pt x="1849" y="72626"/>
                  </a:lnTo>
                  <a:lnTo>
                    <a:pt x="2435" y="68461"/>
                  </a:lnTo>
                  <a:cubicBezTo>
                    <a:pt x="13613" y="29390"/>
                    <a:pt x="61940" y="0"/>
                    <a:pt x="119864" y="0"/>
                  </a:cubicBezTo>
                  <a:lnTo>
                    <a:pt x="211430" y="0"/>
                  </a:lnTo>
                  <a:lnTo>
                    <a:pt x="239728" y="0"/>
                  </a:lnTo>
                  <a:lnTo>
                    <a:pt x="1054718" y="0"/>
                  </a:lnTo>
                  <a:lnTo>
                    <a:pt x="1057343" y="2969"/>
                  </a:lnTo>
                  <a:lnTo>
                    <a:pt x="1732955" y="2969"/>
                  </a:lnTo>
                  <a:lnTo>
                    <a:pt x="2019631" y="533321"/>
                  </a:lnTo>
                  <a:lnTo>
                    <a:pt x="1732955" y="1063673"/>
                  </a:lnTo>
                  <a:lnTo>
                    <a:pt x="1054718" y="1063673"/>
                  </a:lnTo>
                  <a:lnTo>
                    <a:pt x="239728" y="1063673"/>
                  </a:lnTo>
                  <a:lnTo>
                    <a:pt x="211430" y="1063673"/>
                  </a:lnTo>
                  <a:lnTo>
                    <a:pt x="158006" y="1063673"/>
                  </a:lnTo>
                  <a:lnTo>
                    <a:pt x="119864" y="1063673"/>
                  </a:lnTo>
                  <a:cubicBezTo>
                    <a:pt x="61940" y="1063673"/>
                    <a:pt x="13613" y="1034283"/>
                    <a:pt x="2435" y="995212"/>
                  </a:cubicBezTo>
                  <a:lnTo>
                    <a:pt x="1849" y="991047"/>
                  </a:lnTo>
                  <a:close/>
                </a:path>
              </a:pathLst>
            </a:custGeom>
            <a:solidFill>
              <a:srgbClr val="FEA920"/>
            </a:solidFill>
            <a:ln w="19050" cap="flat" cmpd="sng" algn="ctr">
              <a:solidFill>
                <a:srgbClr val="FEA920"/>
              </a:solidFill>
              <a:prstDash val="solid"/>
              <a:miter lim="800000"/>
            </a:ln>
            <a:effectLst>
              <a:outerShdw blurRad="50800" dist="63500" dir="5400000" sx="102000" sy="102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>
                <a:buClrTx/>
                <a:buFontTx/>
                <a:buNone/>
                <a:defRPr/>
              </a:pPr>
              <a:endParaRPr lang="en-US" sz="1800" b="1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sp>
          <p:nvSpPr>
            <p:cNvPr id="12" name="TextBox 41">
              <a:extLst>
                <a:ext uri="{FF2B5EF4-FFF2-40B4-BE49-F238E27FC236}">
                  <a16:creationId xmlns:a16="http://schemas.microsoft.com/office/drawing/2014/main" id="{C31E8AC5-5816-8A91-E1DC-94AC4B85092E}"/>
                </a:ext>
              </a:extLst>
            </p:cNvPr>
            <p:cNvSpPr txBox="1"/>
            <p:nvPr/>
          </p:nvSpPr>
          <p:spPr>
            <a:xfrm>
              <a:off x="954453" y="3329612"/>
              <a:ext cx="1048526" cy="759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  <a:defRPr/>
              </a:pPr>
              <a:r>
                <a:rPr lang="en-US" sz="3200" b="1">
                  <a:solidFill>
                    <a:prstClr val="white"/>
                  </a:solidFill>
                  <a:latin typeface="Aptos" panose="02110004020202020204"/>
                </a:rPr>
                <a:t>III</a:t>
              </a:r>
            </a:p>
          </p:txBody>
        </p:sp>
      </p:grpSp>
      <p:grpSp>
        <p:nvGrpSpPr>
          <p:cNvPr id="13" name="Group 3">
            <a:extLst>
              <a:ext uri="{FF2B5EF4-FFF2-40B4-BE49-F238E27FC236}">
                <a16:creationId xmlns:a16="http://schemas.microsoft.com/office/drawing/2014/main" id="{89FE06DD-06EB-46F2-A94E-88EE31B2C089}"/>
              </a:ext>
            </a:extLst>
          </p:cNvPr>
          <p:cNvGrpSpPr/>
          <p:nvPr/>
        </p:nvGrpSpPr>
        <p:grpSpPr>
          <a:xfrm>
            <a:off x="496099" y="2544150"/>
            <a:ext cx="1023191" cy="941582"/>
            <a:chOff x="924253" y="1557648"/>
            <a:chExt cx="1063673" cy="1855644"/>
          </a:xfrm>
        </p:grpSpPr>
        <p:sp>
          <p:nvSpPr>
            <p:cNvPr id="14" name="Freeform: Shape 88">
              <a:extLst>
                <a:ext uri="{FF2B5EF4-FFF2-40B4-BE49-F238E27FC236}">
                  <a16:creationId xmlns:a16="http://schemas.microsoft.com/office/drawing/2014/main" id="{00765C41-D65A-A326-E424-D2A7B35239F9}"/>
                </a:ext>
              </a:extLst>
            </p:cNvPr>
            <p:cNvSpPr/>
            <p:nvPr/>
          </p:nvSpPr>
          <p:spPr>
            <a:xfrm rot="5400000">
              <a:off x="528268" y="1953633"/>
              <a:ext cx="1855644" cy="1063673"/>
            </a:xfrm>
            <a:custGeom>
              <a:avLst/>
              <a:gdLst>
                <a:gd name="connsiteX0" fmla="*/ 0 w 2019631"/>
                <a:gd name="connsiteY0" fmla="*/ 991047 h 1063673"/>
                <a:gd name="connsiteX1" fmla="*/ 0 w 2019631"/>
                <a:gd name="connsiteY1" fmla="*/ 977934 h 1063673"/>
                <a:gd name="connsiteX2" fmla="*/ 0 w 2019631"/>
                <a:gd name="connsiteY2" fmla="*/ 85739 h 1063673"/>
                <a:gd name="connsiteX3" fmla="*/ 0 w 2019631"/>
                <a:gd name="connsiteY3" fmla="*/ 72626 h 1063673"/>
                <a:gd name="connsiteX4" fmla="*/ 1849 w 2019631"/>
                <a:gd name="connsiteY4" fmla="*/ 72626 h 1063673"/>
                <a:gd name="connsiteX5" fmla="*/ 2435 w 2019631"/>
                <a:gd name="connsiteY5" fmla="*/ 68461 h 1063673"/>
                <a:gd name="connsiteX6" fmla="*/ 119864 w 2019631"/>
                <a:gd name="connsiteY6" fmla="*/ 0 h 1063673"/>
                <a:gd name="connsiteX7" fmla="*/ 211430 w 2019631"/>
                <a:gd name="connsiteY7" fmla="*/ 0 h 1063673"/>
                <a:gd name="connsiteX8" fmla="*/ 239728 w 2019631"/>
                <a:gd name="connsiteY8" fmla="*/ 0 h 1063673"/>
                <a:gd name="connsiteX9" fmla="*/ 1054718 w 2019631"/>
                <a:gd name="connsiteY9" fmla="*/ 0 h 1063673"/>
                <a:gd name="connsiteX10" fmla="*/ 1057343 w 2019631"/>
                <a:gd name="connsiteY10" fmla="*/ 2969 h 1063673"/>
                <a:gd name="connsiteX11" fmla="*/ 1732955 w 2019631"/>
                <a:gd name="connsiteY11" fmla="*/ 2969 h 1063673"/>
                <a:gd name="connsiteX12" fmla="*/ 2019631 w 2019631"/>
                <a:gd name="connsiteY12" fmla="*/ 533321 h 1063673"/>
                <a:gd name="connsiteX13" fmla="*/ 1732955 w 2019631"/>
                <a:gd name="connsiteY13" fmla="*/ 1063673 h 1063673"/>
                <a:gd name="connsiteX14" fmla="*/ 1054718 w 2019631"/>
                <a:gd name="connsiteY14" fmla="*/ 1063673 h 1063673"/>
                <a:gd name="connsiteX15" fmla="*/ 239728 w 2019631"/>
                <a:gd name="connsiteY15" fmla="*/ 1063673 h 1063673"/>
                <a:gd name="connsiteX16" fmla="*/ 211430 w 2019631"/>
                <a:gd name="connsiteY16" fmla="*/ 1063673 h 1063673"/>
                <a:gd name="connsiteX17" fmla="*/ 158006 w 2019631"/>
                <a:gd name="connsiteY17" fmla="*/ 1063673 h 1063673"/>
                <a:gd name="connsiteX18" fmla="*/ 119864 w 2019631"/>
                <a:gd name="connsiteY18" fmla="*/ 1063673 h 1063673"/>
                <a:gd name="connsiteX19" fmla="*/ 2435 w 2019631"/>
                <a:gd name="connsiteY19" fmla="*/ 995212 h 1063673"/>
                <a:gd name="connsiteX20" fmla="*/ 1849 w 2019631"/>
                <a:gd name="connsiteY20" fmla="*/ 991047 h 10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19631" h="1063673">
                  <a:moveTo>
                    <a:pt x="0" y="991047"/>
                  </a:moveTo>
                  <a:lnTo>
                    <a:pt x="0" y="977934"/>
                  </a:lnTo>
                  <a:lnTo>
                    <a:pt x="0" y="85739"/>
                  </a:lnTo>
                  <a:lnTo>
                    <a:pt x="0" y="72626"/>
                  </a:lnTo>
                  <a:lnTo>
                    <a:pt x="1849" y="72626"/>
                  </a:lnTo>
                  <a:lnTo>
                    <a:pt x="2435" y="68461"/>
                  </a:lnTo>
                  <a:cubicBezTo>
                    <a:pt x="13613" y="29390"/>
                    <a:pt x="61940" y="0"/>
                    <a:pt x="119864" y="0"/>
                  </a:cubicBezTo>
                  <a:lnTo>
                    <a:pt x="211430" y="0"/>
                  </a:lnTo>
                  <a:lnTo>
                    <a:pt x="239728" y="0"/>
                  </a:lnTo>
                  <a:lnTo>
                    <a:pt x="1054718" y="0"/>
                  </a:lnTo>
                  <a:lnTo>
                    <a:pt x="1057343" y="2969"/>
                  </a:lnTo>
                  <a:lnTo>
                    <a:pt x="1732955" y="2969"/>
                  </a:lnTo>
                  <a:lnTo>
                    <a:pt x="2019631" y="533321"/>
                  </a:lnTo>
                  <a:lnTo>
                    <a:pt x="1732955" y="1063673"/>
                  </a:lnTo>
                  <a:lnTo>
                    <a:pt x="1054718" y="1063673"/>
                  </a:lnTo>
                  <a:lnTo>
                    <a:pt x="239728" y="1063673"/>
                  </a:lnTo>
                  <a:lnTo>
                    <a:pt x="211430" y="1063673"/>
                  </a:lnTo>
                  <a:lnTo>
                    <a:pt x="158006" y="1063673"/>
                  </a:lnTo>
                  <a:lnTo>
                    <a:pt x="119864" y="1063673"/>
                  </a:lnTo>
                  <a:cubicBezTo>
                    <a:pt x="61940" y="1063673"/>
                    <a:pt x="13613" y="1034283"/>
                    <a:pt x="2435" y="995212"/>
                  </a:cubicBezTo>
                  <a:lnTo>
                    <a:pt x="1849" y="991047"/>
                  </a:lnTo>
                  <a:close/>
                </a:path>
              </a:pathLst>
            </a:custGeom>
            <a:solidFill>
              <a:srgbClr val="EF4164"/>
            </a:solidFill>
            <a:ln w="19050" cap="flat" cmpd="sng" algn="ctr">
              <a:solidFill>
                <a:srgbClr val="EF4164"/>
              </a:solidFill>
              <a:prstDash val="solid"/>
              <a:miter lim="800000"/>
            </a:ln>
            <a:effectLst>
              <a:outerShdw blurRad="50800" dist="63500" dir="5400000" sx="102000" sy="102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>
                <a:buClrTx/>
                <a:buFontTx/>
                <a:buNone/>
                <a:defRPr/>
              </a:pPr>
              <a:endParaRPr lang="en-US" sz="1800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sp>
          <p:nvSpPr>
            <p:cNvPr id="15" name="TextBox 39">
              <a:extLst>
                <a:ext uri="{FF2B5EF4-FFF2-40B4-BE49-F238E27FC236}">
                  <a16:creationId xmlns:a16="http://schemas.microsoft.com/office/drawing/2014/main" id="{3564DA6F-6C0F-D9E6-3544-71793E18C06A}"/>
                </a:ext>
              </a:extLst>
            </p:cNvPr>
            <p:cNvSpPr txBox="1"/>
            <p:nvPr/>
          </p:nvSpPr>
          <p:spPr>
            <a:xfrm>
              <a:off x="939400" y="2236367"/>
              <a:ext cx="1048526" cy="759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  <a:defRPr/>
              </a:pPr>
              <a:r>
                <a:rPr lang="en-US" sz="3200" b="1">
                  <a:solidFill>
                    <a:prstClr val="white"/>
                  </a:solidFill>
                  <a:latin typeface="Aptos" panose="02110004020202020204"/>
                </a:rPr>
                <a:t>II</a:t>
              </a:r>
            </a:p>
          </p:txBody>
        </p:sp>
      </p:grpSp>
      <p:grpSp>
        <p:nvGrpSpPr>
          <p:cNvPr id="16" name="Group 2">
            <a:extLst>
              <a:ext uri="{FF2B5EF4-FFF2-40B4-BE49-F238E27FC236}">
                <a16:creationId xmlns:a16="http://schemas.microsoft.com/office/drawing/2014/main" id="{1F66E9B3-C7CF-8CEE-23F1-A96046B8273F}"/>
              </a:ext>
            </a:extLst>
          </p:cNvPr>
          <p:cNvGrpSpPr/>
          <p:nvPr/>
        </p:nvGrpSpPr>
        <p:grpSpPr>
          <a:xfrm>
            <a:off x="503199" y="1389154"/>
            <a:ext cx="1084597" cy="920300"/>
            <a:chOff x="924253" y="928236"/>
            <a:chExt cx="1063673" cy="1364795"/>
          </a:xfrm>
        </p:grpSpPr>
        <p:sp>
          <p:nvSpPr>
            <p:cNvPr id="17" name="Freeform: Shape 87">
              <a:extLst>
                <a:ext uri="{FF2B5EF4-FFF2-40B4-BE49-F238E27FC236}">
                  <a16:creationId xmlns:a16="http://schemas.microsoft.com/office/drawing/2014/main" id="{007A10CF-BE51-8AFB-94B8-E4C6632A0D3E}"/>
                </a:ext>
              </a:extLst>
            </p:cNvPr>
            <p:cNvSpPr/>
            <p:nvPr/>
          </p:nvSpPr>
          <p:spPr>
            <a:xfrm rot="5400000">
              <a:off x="773692" y="1078797"/>
              <a:ext cx="1364795" cy="1063673"/>
            </a:xfrm>
            <a:custGeom>
              <a:avLst/>
              <a:gdLst>
                <a:gd name="connsiteX0" fmla="*/ 0 w 2019631"/>
                <a:gd name="connsiteY0" fmla="*/ 991047 h 1063673"/>
                <a:gd name="connsiteX1" fmla="*/ 0 w 2019631"/>
                <a:gd name="connsiteY1" fmla="*/ 977934 h 1063673"/>
                <a:gd name="connsiteX2" fmla="*/ 0 w 2019631"/>
                <a:gd name="connsiteY2" fmla="*/ 85739 h 1063673"/>
                <a:gd name="connsiteX3" fmla="*/ 0 w 2019631"/>
                <a:gd name="connsiteY3" fmla="*/ 72626 h 1063673"/>
                <a:gd name="connsiteX4" fmla="*/ 1849 w 2019631"/>
                <a:gd name="connsiteY4" fmla="*/ 72626 h 1063673"/>
                <a:gd name="connsiteX5" fmla="*/ 2435 w 2019631"/>
                <a:gd name="connsiteY5" fmla="*/ 68461 h 1063673"/>
                <a:gd name="connsiteX6" fmla="*/ 119864 w 2019631"/>
                <a:gd name="connsiteY6" fmla="*/ 0 h 1063673"/>
                <a:gd name="connsiteX7" fmla="*/ 211430 w 2019631"/>
                <a:gd name="connsiteY7" fmla="*/ 0 h 1063673"/>
                <a:gd name="connsiteX8" fmla="*/ 239728 w 2019631"/>
                <a:gd name="connsiteY8" fmla="*/ 0 h 1063673"/>
                <a:gd name="connsiteX9" fmla="*/ 1054718 w 2019631"/>
                <a:gd name="connsiteY9" fmla="*/ 0 h 1063673"/>
                <a:gd name="connsiteX10" fmla="*/ 1057343 w 2019631"/>
                <a:gd name="connsiteY10" fmla="*/ 2969 h 1063673"/>
                <a:gd name="connsiteX11" fmla="*/ 1732955 w 2019631"/>
                <a:gd name="connsiteY11" fmla="*/ 2969 h 1063673"/>
                <a:gd name="connsiteX12" fmla="*/ 2019631 w 2019631"/>
                <a:gd name="connsiteY12" fmla="*/ 533321 h 1063673"/>
                <a:gd name="connsiteX13" fmla="*/ 1732955 w 2019631"/>
                <a:gd name="connsiteY13" fmla="*/ 1063673 h 1063673"/>
                <a:gd name="connsiteX14" fmla="*/ 1054718 w 2019631"/>
                <a:gd name="connsiteY14" fmla="*/ 1063673 h 1063673"/>
                <a:gd name="connsiteX15" fmla="*/ 239728 w 2019631"/>
                <a:gd name="connsiteY15" fmla="*/ 1063673 h 1063673"/>
                <a:gd name="connsiteX16" fmla="*/ 211430 w 2019631"/>
                <a:gd name="connsiteY16" fmla="*/ 1063673 h 1063673"/>
                <a:gd name="connsiteX17" fmla="*/ 158006 w 2019631"/>
                <a:gd name="connsiteY17" fmla="*/ 1063673 h 1063673"/>
                <a:gd name="connsiteX18" fmla="*/ 119864 w 2019631"/>
                <a:gd name="connsiteY18" fmla="*/ 1063673 h 1063673"/>
                <a:gd name="connsiteX19" fmla="*/ 2435 w 2019631"/>
                <a:gd name="connsiteY19" fmla="*/ 995212 h 1063673"/>
                <a:gd name="connsiteX20" fmla="*/ 1849 w 2019631"/>
                <a:gd name="connsiteY20" fmla="*/ 991047 h 10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19631" h="1063673">
                  <a:moveTo>
                    <a:pt x="0" y="991047"/>
                  </a:moveTo>
                  <a:lnTo>
                    <a:pt x="0" y="977934"/>
                  </a:lnTo>
                  <a:lnTo>
                    <a:pt x="0" y="85739"/>
                  </a:lnTo>
                  <a:lnTo>
                    <a:pt x="0" y="72626"/>
                  </a:lnTo>
                  <a:lnTo>
                    <a:pt x="1849" y="72626"/>
                  </a:lnTo>
                  <a:lnTo>
                    <a:pt x="2435" y="68461"/>
                  </a:lnTo>
                  <a:cubicBezTo>
                    <a:pt x="13613" y="29390"/>
                    <a:pt x="61940" y="0"/>
                    <a:pt x="119864" y="0"/>
                  </a:cubicBezTo>
                  <a:lnTo>
                    <a:pt x="211430" y="0"/>
                  </a:lnTo>
                  <a:lnTo>
                    <a:pt x="239728" y="0"/>
                  </a:lnTo>
                  <a:lnTo>
                    <a:pt x="1054718" y="0"/>
                  </a:lnTo>
                  <a:lnTo>
                    <a:pt x="1057343" y="2969"/>
                  </a:lnTo>
                  <a:lnTo>
                    <a:pt x="1732955" y="2969"/>
                  </a:lnTo>
                  <a:lnTo>
                    <a:pt x="2019631" y="533321"/>
                  </a:lnTo>
                  <a:lnTo>
                    <a:pt x="1732955" y="1063673"/>
                  </a:lnTo>
                  <a:lnTo>
                    <a:pt x="1054718" y="1063673"/>
                  </a:lnTo>
                  <a:lnTo>
                    <a:pt x="239728" y="1063673"/>
                  </a:lnTo>
                  <a:lnTo>
                    <a:pt x="211430" y="1063673"/>
                  </a:lnTo>
                  <a:lnTo>
                    <a:pt x="158006" y="1063673"/>
                  </a:lnTo>
                  <a:lnTo>
                    <a:pt x="119864" y="1063673"/>
                  </a:lnTo>
                  <a:cubicBezTo>
                    <a:pt x="61940" y="1063673"/>
                    <a:pt x="13613" y="1034283"/>
                    <a:pt x="2435" y="995212"/>
                  </a:cubicBezTo>
                  <a:lnTo>
                    <a:pt x="1849" y="991047"/>
                  </a:lnTo>
                  <a:close/>
                </a:path>
              </a:pathLst>
            </a:custGeom>
            <a:solidFill>
              <a:srgbClr val="21AABE"/>
            </a:solidFill>
            <a:ln w="19050" cap="flat" cmpd="sng" algn="ctr">
              <a:solidFill>
                <a:srgbClr val="21AABE"/>
              </a:solidFill>
              <a:prstDash val="solid"/>
              <a:miter lim="800000"/>
            </a:ln>
            <a:effectLst>
              <a:outerShdw blurRad="50800" dist="63500" dir="5400000" sx="102000" sy="102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>
                <a:buClrTx/>
                <a:buFontTx/>
                <a:buNone/>
                <a:defRPr/>
              </a:pPr>
              <a:endParaRPr lang="en-US" sz="1800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sp>
          <p:nvSpPr>
            <p:cNvPr id="18" name="TextBox 37">
              <a:extLst>
                <a:ext uri="{FF2B5EF4-FFF2-40B4-BE49-F238E27FC236}">
                  <a16:creationId xmlns:a16="http://schemas.microsoft.com/office/drawing/2014/main" id="{D769E299-C345-C70C-E8D2-E73B2AC41E10}"/>
                </a:ext>
              </a:extLst>
            </p:cNvPr>
            <p:cNvSpPr txBox="1"/>
            <p:nvPr/>
          </p:nvSpPr>
          <p:spPr>
            <a:xfrm>
              <a:off x="932366" y="1298495"/>
              <a:ext cx="1048526" cy="670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  <a:defRPr/>
              </a:pPr>
              <a:r>
                <a:rPr lang="en-US" sz="3200" b="1">
                  <a:solidFill>
                    <a:prstClr val="white"/>
                  </a:solidFill>
                  <a:latin typeface="Aptos" panose="02110004020202020204"/>
                </a:rPr>
                <a:t>I</a:t>
              </a:r>
            </a:p>
          </p:txBody>
        </p:sp>
      </p:grpSp>
      <p:grpSp>
        <p:nvGrpSpPr>
          <p:cNvPr id="19" name="Group 100">
            <a:extLst>
              <a:ext uri="{FF2B5EF4-FFF2-40B4-BE49-F238E27FC236}">
                <a16:creationId xmlns:a16="http://schemas.microsoft.com/office/drawing/2014/main" id="{62D8B545-18E3-C3A5-40D9-E705D05F99C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87796" y="1230687"/>
            <a:ext cx="7594654" cy="960999"/>
            <a:chOff x="2452106" y="1204860"/>
            <a:chExt cx="7594654" cy="960999"/>
          </a:xfrm>
        </p:grpSpPr>
        <p:sp>
          <p:nvSpPr>
            <p:cNvPr id="20" name="TextBox 92">
              <a:extLst>
                <a:ext uri="{FF2B5EF4-FFF2-40B4-BE49-F238E27FC236}">
                  <a16:creationId xmlns:a16="http://schemas.microsoft.com/office/drawing/2014/main" id="{6DF5CB2F-3630-CFE0-C759-EF40BC9B1831}"/>
                </a:ext>
              </a:extLst>
            </p:cNvPr>
            <p:cNvSpPr txBox="1"/>
            <p:nvPr>
              <p:custDataLst>
                <p:tags r:id="rId35"/>
              </p:custDataLst>
            </p:nvPr>
          </p:nvSpPr>
          <p:spPr>
            <a:xfrm>
              <a:off x="2682324" y="1519528"/>
              <a:ext cx="736443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Contexto</a:t>
              </a: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 </a:t>
              </a: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Moçambicano</a:t>
              </a:r>
              <a:endParaRPr lang="en-GB" sz="1800" dirty="0">
                <a:solidFill>
                  <a:prstClr val="black"/>
                </a:solidFill>
                <a:latin typeface="Aptos" panose="02110004020202020204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Contexto</a:t>
              </a: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 Macro-</a:t>
              </a: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económico</a:t>
              </a:r>
              <a:endParaRPr lang="pt-PT" sz="18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21" name="TextBox 93">
              <a:extLst>
                <a:ext uri="{FF2B5EF4-FFF2-40B4-BE49-F238E27FC236}">
                  <a16:creationId xmlns:a16="http://schemas.microsoft.com/office/drawing/2014/main" id="{6314F5CC-990B-B9C4-61A4-6BA33E6286DA}"/>
                </a:ext>
              </a:extLst>
            </p:cNvPr>
            <p:cNvSpPr txBox="1"/>
            <p:nvPr>
              <p:custDataLst>
                <p:tags r:id="rId36"/>
              </p:custDataLst>
            </p:nvPr>
          </p:nvSpPr>
          <p:spPr>
            <a:xfrm>
              <a:off x="2452106" y="1204860"/>
              <a:ext cx="31404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pt-PT" sz="1800" b="1" dirty="0">
                  <a:solidFill>
                    <a:srgbClr val="00B0F0"/>
                  </a:solidFill>
                  <a:latin typeface="Aptos" panose="02110004020202020204"/>
                </a:rPr>
                <a:t>1. Contextualização</a:t>
              </a:r>
            </a:p>
          </p:txBody>
        </p:sp>
      </p:grpSp>
      <p:grpSp>
        <p:nvGrpSpPr>
          <p:cNvPr id="22" name="Group 101">
            <a:extLst>
              <a:ext uri="{FF2B5EF4-FFF2-40B4-BE49-F238E27FC236}">
                <a16:creationId xmlns:a16="http://schemas.microsoft.com/office/drawing/2014/main" id="{17656130-36AF-718B-4D86-05B6D45C2AEB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684370" y="2384585"/>
            <a:ext cx="7584942" cy="1005830"/>
            <a:chOff x="2204092" y="2104576"/>
            <a:chExt cx="7584942" cy="1005830"/>
          </a:xfrm>
        </p:grpSpPr>
        <p:sp>
          <p:nvSpPr>
            <p:cNvPr id="23" name="TextBox 94">
              <a:extLst>
                <a:ext uri="{FF2B5EF4-FFF2-40B4-BE49-F238E27FC236}">
                  <a16:creationId xmlns:a16="http://schemas.microsoft.com/office/drawing/2014/main" id="{DBDE92DA-4FE9-C1F1-7202-3827A4FDBA97}"/>
                </a:ext>
              </a:extLst>
            </p:cNvPr>
            <p:cNvSpPr txBox="1"/>
            <p:nvPr>
              <p:custDataLst>
                <p:tags r:id="rId33"/>
              </p:custDataLst>
            </p:nvPr>
          </p:nvSpPr>
          <p:spPr>
            <a:xfrm>
              <a:off x="2424598" y="2464075"/>
              <a:ext cx="736443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Estrutura</a:t>
              </a: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 e </a:t>
              </a: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Evolução</a:t>
              </a: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 de </a:t>
              </a: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recursos</a:t>
              </a: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 </a:t>
              </a: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internos</a:t>
              </a:r>
              <a:endParaRPr lang="en-GB" sz="1800" dirty="0">
                <a:solidFill>
                  <a:prstClr val="black"/>
                </a:solidFill>
                <a:latin typeface="Aptos" panose="02110004020202020204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Mapa R - </a:t>
              </a: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Previsão</a:t>
              </a: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 de </a:t>
              </a: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Receitas</a:t>
              </a: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 </a:t>
              </a: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próprias</a:t>
              </a: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 e </a:t>
              </a: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consignadas</a:t>
              </a:r>
              <a:endParaRPr lang="pt-PT" sz="18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24" name="TextBox 95">
              <a:extLst>
                <a:ext uri="{FF2B5EF4-FFF2-40B4-BE49-F238E27FC236}">
                  <a16:creationId xmlns:a16="http://schemas.microsoft.com/office/drawing/2014/main" id="{25F05E96-A362-9CAC-33BB-CD772AA51A66}"/>
                </a:ext>
              </a:extLst>
            </p:cNvPr>
            <p:cNvSpPr txBox="1"/>
            <p:nvPr>
              <p:custDataLst>
                <p:tags r:id="rId34"/>
              </p:custDataLst>
            </p:nvPr>
          </p:nvSpPr>
          <p:spPr>
            <a:xfrm>
              <a:off x="2204092" y="2104576"/>
              <a:ext cx="74980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pt-PT" sz="1800" b="1" dirty="0">
                  <a:solidFill>
                    <a:srgbClr val="E63041"/>
                  </a:solidFill>
                  <a:latin typeface="Aptos" panose="02110004020202020204"/>
                </a:rPr>
                <a:t>2. Envelope de Recursos</a:t>
              </a:r>
            </a:p>
          </p:txBody>
        </p:sp>
      </p:grpSp>
      <p:grpSp>
        <p:nvGrpSpPr>
          <p:cNvPr id="25" name="Group 102">
            <a:extLst>
              <a:ext uri="{FF2B5EF4-FFF2-40B4-BE49-F238E27FC236}">
                <a16:creationId xmlns:a16="http://schemas.microsoft.com/office/drawing/2014/main" id="{1F88B28E-B79C-444B-4229-E6024B317754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697352" y="3455286"/>
            <a:ext cx="7647728" cy="1273583"/>
            <a:chOff x="2217074" y="3299972"/>
            <a:chExt cx="7647728" cy="1273583"/>
          </a:xfrm>
        </p:grpSpPr>
        <p:sp>
          <p:nvSpPr>
            <p:cNvPr id="26" name="TextBox 96">
              <a:extLst>
                <a:ext uri="{FF2B5EF4-FFF2-40B4-BE49-F238E27FC236}">
                  <a16:creationId xmlns:a16="http://schemas.microsoft.com/office/drawing/2014/main" id="{A162E9EE-13D1-5289-571E-AD2BFB24CDB4}"/>
                </a:ext>
              </a:extLst>
            </p:cNvPr>
            <p:cNvSpPr txBox="1"/>
            <p:nvPr>
              <p:custDataLst>
                <p:tags r:id="rId31"/>
              </p:custDataLst>
            </p:nvPr>
          </p:nvSpPr>
          <p:spPr>
            <a:xfrm>
              <a:off x="2392513" y="3650225"/>
              <a:ext cx="7364436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MapaC</a:t>
              </a: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 – </a:t>
              </a:r>
              <a:r>
                <a:rPr lang="en-GB" sz="1800" dirty="0" err="1">
                  <a:solidFill>
                    <a:prstClr val="black"/>
                  </a:solidFill>
                  <a:latin typeface="Aptos" panose="02110004020202020204"/>
                </a:rPr>
                <a:t>Funcionamento</a:t>
              </a:r>
              <a:r>
                <a:rPr lang="en-GB" sz="1800" dirty="0">
                  <a:solidFill>
                    <a:prstClr val="black"/>
                  </a:solidFill>
                  <a:latin typeface="Aptos" panose="02110004020202020204"/>
                </a:rPr>
                <a:t> ( Nivel Provincial e Central )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pt-PT" sz="1800" dirty="0">
                <a:solidFill>
                  <a:prstClr val="black"/>
                </a:solidFill>
                <a:latin typeface="Aptos" panose="02110004020202020204"/>
              </a:endParaRPr>
            </a:p>
            <a:p>
              <a:pPr algn="just"/>
              <a:r>
                <a:rPr lang="pt-BR" sz="1800" dirty="0">
                  <a:solidFill>
                    <a:prstClr val="black"/>
                  </a:solidFill>
                  <a:latin typeface="Aptos" panose="02110004020202020204"/>
                </a:rPr>
                <a:t>  </a:t>
              </a:r>
              <a:endParaRPr lang="pt-PT" sz="18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27" name="TextBox 97">
              <a:extLst>
                <a:ext uri="{FF2B5EF4-FFF2-40B4-BE49-F238E27FC236}">
                  <a16:creationId xmlns:a16="http://schemas.microsoft.com/office/drawing/2014/main" id="{4B9727D3-4FB6-ECD7-DF06-FC2E2B15B7AD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2217074" y="3299972"/>
              <a:ext cx="7647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pt-PT" sz="1800" b="1" dirty="0">
                  <a:solidFill>
                    <a:srgbClr val="FFC000"/>
                  </a:solidFill>
                  <a:latin typeface="Aptos" panose="02110004020202020204"/>
                </a:rPr>
                <a:t>3. Alocação estratégica dos Recursos</a:t>
              </a:r>
            </a:p>
          </p:txBody>
        </p:sp>
      </p:grpSp>
      <p:sp>
        <p:nvSpPr>
          <p:cNvPr id="28" name="TextBox 99">
            <a:extLst>
              <a:ext uri="{FF2B5EF4-FFF2-40B4-BE49-F238E27FC236}">
                <a16:creationId xmlns:a16="http://schemas.microsoft.com/office/drawing/2014/main" id="{53505329-AA61-9331-E572-0FA5B783FE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97350" y="4237137"/>
            <a:ext cx="701451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PT" sz="1800" b="1" dirty="0">
                <a:solidFill>
                  <a:srgbClr val="00B050"/>
                </a:solidFill>
                <a:latin typeface="Aptos" panose="02110004020202020204"/>
              </a:rPr>
              <a:t>4. Mapa dos </a:t>
            </a:r>
            <a:r>
              <a:rPr lang="pt-PT" sz="1800" b="1" dirty="0" err="1">
                <a:solidFill>
                  <a:srgbClr val="00B050"/>
                </a:solidFill>
                <a:latin typeface="Aptos" panose="02110004020202020204"/>
              </a:rPr>
              <a:t>Actos</a:t>
            </a:r>
            <a:r>
              <a:rPr lang="pt-PT" sz="1800" b="1" dirty="0">
                <a:solidFill>
                  <a:srgbClr val="00B050"/>
                </a:solidFill>
                <a:latin typeface="Aptos" panose="02110004020202020204"/>
              </a:rPr>
              <a:t> Administrativos</a:t>
            </a:r>
          </a:p>
        </p:txBody>
      </p:sp>
      <p:sp>
        <p:nvSpPr>
          <p:cNvPr id="29" name="TextBox 98">
            <a:extLst>
              <a:ext uri="{FF2B5EF4-FFF2-40B4-BE49-F238E27FC236}">
                <a16:creationId xmlns:a16="http://schemas.microsoft.com/office/drawing/2014/main" id="{D132B94B-B5E0-2CF5-D2EF-65E39FC7626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697350" y="4783683"/>
            <a:ext cx="73644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prstClr val="black"/>
                </a:solidFill>
                <a:latin typeface="Aptos" panose="02110004020202020204"/>
              </a:rPr>
              <a:t>Impacto previsional de actos administrativos </a:t>
            </a:r>
            <a:endParaRPr lang="pt-PT" sz="18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F1305251-B292-C031-1E24-DC8B9CD6A3D0}"/>
              </a:ext>
            </a:extLst>
          </p:cNvPr>
          <p:cNvSpPr txBox="1"/>
          <p:nvPr/>
        </p:nvSpPr>
        <p:spPr>
          <a:xfrm>
            <a:off x="1684370" y="5565534"/>
            <a:ext cx="688059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PT" sz="1800" b="1" dirty="0">
                <a:solidFill>
                  <a:srgbClr val="024053"/>
                </a:solidFill>
                <a:latin typeface="Aptos" panose="02110004020202020204"/>
              </a:rPr>
              <a:t>6. Anexos – Previsão detalhado de recursos / </a:t>
            </a:r>
            <a:r>
              <a:rPr lang="pt-PT" sz="1800" b="1" dirty="0" err="1">
                <a:solidFill>
                  <a:srgbClr val="024053"/>
                </a:solidFill>
                <a:latin typeface="Aptos" panose="02110004020202020204"/>
              </a:rPr>
              <a:t>Pronvincial</a:t>
            </a:r>
            <a:r>
              <a:rPr lang="pt-PT" sz="1800" b="1" spc="600" dirty="0">
                <a:solidFill>
                  <a:srgbClr val="024053"/>
                </a:solidFill>
                <a:latin typeface="Aptos" panose="02110004020202020204"/>
              </a:rPr>
              <a:t> </a:t>
            </a:r>
          </a:p>
        </p:txBody>
      </p:sp>
      <p:sp>
        <p:nvSpPr>
          <p:cNvPr id="30" name="TextBox 99">
            <a:extLst>
              <a:ext uri="{FF2B5EF4-FFF2-40B4-BE49-F238E27FC236}">
                <a16:creationId xmlns:a16="http://schemas.microsoft.com/office/drawing/2014/main" id="{ED3E252C-3B77-BC6E-A852-EDBCBC55F49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97350" y="5137832"/>
            <a:ext cx="701451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PT" sz="1800" b="1" dirty="0">
                <a:solidFill>
                  <a:srgbClr val="00B050"/>
                </a:solidFill>
                <a:latin typeface="Aptos" panose="02110004020202020204"/>
              </a:rPr>
              <a:t>5. </a:t>
            </a:r>
            <a:r>
              <a:rPr lang="pt-PT" sz="1800" b="1" dirty="0" err="1">
                <a:solidFill>
                  <a:srgbClr val="00B050"/>
                </a:solidFill>
                <a:latin typeface="Aptos" panose="02110004020202020204"/>
              </a:rPr>
              <a:t>MapaB</a:t>
            </a:r>
            <a:r>
              <a:rPr lang="pt-PT" sz="1800" b="1" dirty="0">
                <a:solidFill>
                  <a:srgbClr val="00B050"/>
                </a:solidFill>
                <a:latin typeface="Aptos" panose="02110004020202020204"/>
              </a:rPr>
              <a:t> - Investimentos</a:t>
            </a:r>
          </a:p>
        </p:txBody>
      </p:sp>
      <p:sp>
        <p:nvSpPr>
          <p:cNvPr id="31" name="TextBox 51">
            <a:extLst>
              <a:ext uri="{FF2B5EF4-FFF2-40B4-BE49-F238E27FC236}">
                <a16:creationId xmlns:a16="http://schemas.microsoft.com/office/drawing/2014/main" id="{78A7F18C-800E-7275-5F55-A15FF0A6CA00}"/>
              </a:ext>
            </a:extLst>
          </p:cNvPr>
          <p:cNvSpPr txBox="1"/>
          <p:nvPr/>
        </p:nvSpPr>
        <p:spPr>
          <a:xfrm>
            <a:off x="1710332" y="6040630"/>
            <a:ext cx="771531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PT" sz="1800" b="1" dirty="0">
                <a:solidFill>
                  <a:srgbClr val="024053"/>
                </a:solidFill>
                <a:latin typeface="Aptos" panose="02110004020202020204"/>
              </a:rPr>
              <a:t>7. Desafios Práticos do Instrumento ( CFMP)</a:t>
            </a:r>
            <a:endParaRPr lang="en-MZ" sz="1800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PT" sz="1800" b="1" dirty="0">
                <a:solidFill>
                  <a:srgbClr val="024053"/>
                </a:solidFill>
                <a:latin typeface="Aptos" panose="02110004020202020204"/>
              </a:rPr>
              <a:t> </a:t>
            </a:r>
            <a:r>
              <a:rPr lang="pt-PT" sz="1800" b="1" spc="600" dirty="0">
                <a:solidFill>
                  <a:srgbClr val="024053"/>
                </a:solidFill>
                <a:latin typeface="Aptos" panose="02110004020202020204"/>
              </a:rPr>
              <a:t> </a:t>
            </a:r>
          </a:p>
        </p:txBody>
      </p:sp>
      <p:grpSp>
        <p:nvGrpSpPr>
          <p:cNvPr id="32" name="Group 70">
            <a:extLst>
              <a:ext uri="{FF2B5EF4-FFF2-40B4-BE49-F238E27FC236}">
                <a16:creationId xmlns:a16="http://schemas.microsoft.com/office/drawing/2014/main" id="{50B23420-A6C9-536B-7E5D-AB7024D79A6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530840" y="1520701"/>
            <a:ext cx="8048338" cy="500671"/>
            <a:chOff x="1853486" y="1476406"/>
            <a:chExt cx="8048338" cy="500671"/>
          </a:xfrm>
        </p:grpSpPr>
        <p:sp>
          <p:nvSpPr>
            <p:cNvPr id="33" name="Oval 29">
              <a:extLst>
                <a:ext uri="{FF2B5EF4-FFF2-40B4-BE49-F238E27FC236}">
                  <a16:creationId xmlns:a16="http://schemas.microsoft.com/office/drawing/2014/main" id="{2849F64A-1EE4-B708-0B90-2F625F907D87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866468" y="1885637"/>
              <a:ext cx="91440" cy="9144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buClrTx/>
                <a:buFontTx/>
                <a:buNone/>
                <a:defRPr/>
              </a:pPr>
              <a:endParaRPr lang="en-US" sz="1800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grpSp>
          <p:nvGrpSpPr>
            <p:cNvPr id="34" name="Group 69">
              <a:extLst>
                <a:ext uri="{FF2B5EF4-FFF2-40B4-BE49-F238E27FC236}">
                  <a16:creationId xmlns:a16="http://schemas.microsoft.com/office/drawing/2014/main" id="{E7C6FF33-FEB7-3DEF-5E59-C38CEA1DC8B8}"/>
                </a:ext>
              </a:extLst>
            </p:cNvPr>
            <p:cNvGrpSpPr/>
            <p:nvPr/>
          </p:nvGrpSpPr>
          <p:grpSpPr>
            <a:xfrm>
              <a:off x="1853486" y="1476406"/>
              <a:ext cx="8048338" cy="222319"/>
              <a:chOff x="1853486" y="1476406"/>
              <a:chExt cx="8048338" cy="222319"/>
            </a:xfrm>
          </p:grpSpPr>
          <p:sp>
            <p:nvSpPr>
              <p:cNvPr id="35" name="Rectangle 66">
                <a:extLst>
                  <a:ext uri="{FF2B5EF4-FFF2-40B4-BE49-F238E27FC236}">
                    <a16:creationId xmlns:a16="http://schemas.microsoft.com/office/drawing/2014/main" id="{16E9354D-5443-9623-0469-BCA5301BEEF3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 rot="18960000" flipH="1">
                <a:off x="1853486" y="1698725"/>
                <a:ext cx="640080" cy="0"/>
              </a:xfrm>
              <a:prstGeom prst="rect">
                <a:avLst/>
              </a:prstGeom>
              <a:solidFill>
                <a:srgbClr val="156082"/>
              </a:solidFill>
              <a:ln w="158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  <p:sp>
            <p:nvSpPr>
              <p:cNvPr id="36" name="Rectangle 67">
                <a:extLst>
                  <a:ext uri="{FF2B5EF4-FFF2-40B4-BE49-F238E27FC236}">
                    <a16:creationId xmlns:a16="http://schemas.microsoft.com/office/drawing/2014/main" id="{5448881A-2375-ADFD-CCFE-BC4274326893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2403744" y="1476406"/>
                <a:ext cx="7498080" cy="0"/>
              </a:xfrm>
              <a:prstGeom prst="rect">
                <a:avLst/>
              </a:prstGeom>
              <a:solidFill>
                <a:srgbClr val="156082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</p:grpSp>
      </p:grpSp>
      <p:grpSp>
        <p:nvGrpSpPr>
          <p:cNvPr id="37" name="Group 70">
            <a:extLst>
              <a:ext uri="{FF2B5EF4-FFF2-40B4-BE49-F238E27FC236}">
                <a16:creationId xmlns:a16="http://schemas.microsoft.com/office/drawing/2014/main" id="{418769CA-2389-973A-8DE6-3C448FE4326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1461822" y="2714791"/>
            <a:ext cx="8048338" cy="500671"/>
            <a:chOff x="1853486" y="1476406"/>
            <a:chExt cx="8048338" cy="500671"/>
          </a:xfrm>
        </p:grpSpPr>
        <p:sp>
          <p:nvSpPr>
            <p:cNvPr id="38" name="Oval 29">
              <a:extLst>
                <a:ext uri="{FF2B5EF4-FFF2-40B4-BE49-F238E27FC236}">
                  <a16:creationId xmlns:a16="http://schemas.microsoft.com/office/drawing/2014/main" id="{122FF9F5-DB55-2F5C-571C-938E388F0AB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866468" y="1885637"/>
              <a:ext cx="91440" cy="9144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buClrTx/>
                <a:buFontTx/>
                <a:buNone/>
                <a:defRPr/>
              </a:pPr>
              <a:endParaRPr lang="en-US" sz="1800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grpSp>
          <p:nvGrpSpPr>
            <p:cNvPr id="39" name="Group 69">
              <a:extLst>
                <a:ext uri="{FF2B5EF4-FFF2-40B4-BE49-F238E27FC236}">
                  <a16:creationId xmlns:a16="http://schemas.microsoft.com/office/drawing/2014/main" id="{91D08B7A-5D76-D551-0312-A97F3DF82DEE}"/>
                </a:ext>
              </a:extLst>
            </p:cNvPr>
            <p:cNvGrpSpPr/>
            <p:nvPr/>
          </p:nvGrpSpPr>
          <p:grpSpPr>
            <a:xfrm>
              <a:off x="1853486" y="1476406"/>
              <a:ext cx="8048338" cy="222319"/>
              <a:chOff x="1853486" y="1476406"/>
              <a:chExt cx="8048338" cy="222319"/>
            </a:xfrm>
          </p:grpSpPr>
          <p:sp>
            <p:nvSpPr>
              <p:cNvPr id="40" name="Rectangle 66">
                <a:extLst>
                  <a:ext uri="{FF2B5EF4-FFF2-40B4-BE49-F238E27FC236}">
                    <a16:creationId xmlns:a16="http://schemas.microsoft.com/office/drawing/2014/main" id="{F6432AE1-7BD4-FB17-02D6-F61A670A6C28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 rot="18960000" flipH="1">
                <a:off x="1853486" y="1698725"/>
                <a:ext cx="640080" cy="0"/>
              </a:xfrm>
              <a:prstGeom prst="rect">
                <a:avLst/>
              </a:prstGeom>
              <a:solidFill>
                <a:srgbClr val="156082"/>
              </a:solidFill>
              <a:ln w="158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  <p:sp>
            <p:nvSpPr>
              <p:cNvPr id="41" name="Rectangle 67">
                <a:extLst>
                  <a:ext uri="{FF2B5EF4-FFF2-40B4-BE49-F238E27FC236}">
                    <a16:creationId xmlns:a16="http://schemas.microsoft.com/office/drawing/2014/main" id="{3E36A06F-ADEC-9D39-A35D-DD30AC40B710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2403744" y="1476406"/>
                <a:ext cx="7498080" cy="0"/>
              </a:xfrm>
              <a:prstGeom prst="rect">
                <a:avLst/>
              </a:prstGeom>
              <a:solidFill>
                <a:srgbClr val="156082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</p:grpSp>
      </p:grpSp>
      <p:grpSp>
        <p:nvGrpSpPr>
          <p:cNvPr id="42" name="Group 70">
            <a:extLst>
              <a:ext uri="{FF2B5EF4-FFF2-40B4-BE49-F238E27FC236}">
                <a16:creationId xmlns:a16="http://schemas.microsoft.com/office/drawing/2014/main" id="{9BD91DAC-61B7-9FF6-AB44-45A47726DC72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1461822" y="3784519"/>
            <a:ext cx="8048338" cy="500671"/>
            <a:chOff x="1853486" y="1476406"/>
            <a:chExt cx="8048338" cy="500671"/>
          </a:xfrm>
        </p:grpSpPr>
        <p:sp>
          <p:nvSpPr>
            <p:cNvPr id="43" name="Oval 29">
              <a:extLst>
                <a:ext uri="{FF2B5EF4-FFF2-40B4-BE49-F238E27FC236}">
                  <a16:creationId xmlns:a16="http://schemas.microsoft.com/office/drawing/2014/main" id="{1B0B0D32-726E-EE9A-8EEB-E227EFA40E78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866468" y="1885637"/>
              <a:ext cx="91440" cy="9144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buClrTx/>
                <a:buFontTx/>
                <a:buNone/>
                <a:defRPr/>
              </a:pPr>
              <a:endParaRPr lang="en-US" sz="1800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grpSp>
          <p:nvGrpSpPr>
            <p:cNvPr id="44" name="Group 69">
              <a:extLst>
                <a:ext uri="{FF2B5EF4-FFF2-40B4-BE49-F238E27FC236}">
                  <a16:creationId xmlns:a16="http://schemas.microsoft.com/office/drawing/2014/main" id="{E5F0B019-1981-178F-A60C-0002BDF62436}"/>
                </a:ext>
              </a:extLst>
            </p:cNvPr>
            <p:cNvGrpSpPr/>
            <p:nvPr/>
          </p:nvGrpSpPr>
          <p:grpSpPr>
            <a:xfrm>
              <a:off x="1853486" y="1476406"/>
              <a:ext cx="8048338" cy="222319"/>
              <a:chOff x="1853486" y="1476406"/>
              <a:chExt cx="8048338" cy="222319"/>
            </a:xfrm>
          </p:grpSpPr>
          <p:sp>
            <p:nvSpPr>
              <p:cNvPr id="45" name="Rectangle 66">
                <a:extLst>
                  <a:ext uri="{FF2B5EF4-FFF2-40B4-BE49-F238E27FC236}">
                    <a16:creationId xmlns:a16="http://schemas.microsoft.com/office/drawing/2014/main" id="{B188720D-2005-2B22-C85D-777721B42F3C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 rot="18960000" flipH="1">
                <a:off x="1853486" y="1698725"/>
                <a:ext cx="640080" cy="0"/>
              </a:xfrm>
              <a:prstGeom prst="rect">
                <a:avLst/>
              </a:prstGeom>
              <a:solidFill>
                <a:srgbClr val="156082"/>
              </a:solidFill>
              <a:ln w="158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  <p:sp>
            <p:nvSpPr>
              <p:cNvPr id="46" name="Rectangle 67">
                <a:extLst>
                  <a:ext uri="{FF2B5EF4-FFF2-40B4-BE49-F238E27FC236}">
                    <a16:creationId xmlns:a16="http://schemas.microsoft.com/office/drawing/2014/main" id="{05A52D00-90C4-C8F2-8CFD-80CC024232BB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2403744" y="1476406"/>
                <a:ext cx="7498080" cy="0"/>
              </a:xfrm>
              <a:prstGeom prst="rect">
                <a:avLst/>
              </a:prstGeom>
              <a:solidFill>
                <a:srgbClr val="156082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</p:grpSp>
      </p:grpSp>
      <p:grpSp>
        <p:nvGrpSpPr>
          <p:cNvPr id="47" name="Group 70">
            <a:extLst>
              <a:ext uri="{FF2B5EF4-FFF2-40B4-BE49-F238E27FC236}">
                <a16:creationId xmlns:a16="http://schemas.microsoft.com/office/drawing/2014/main" id="{B44F80D0-365A-0C71-6DE4-1E433042E2B7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1440984" y="4610906"/>
            <a:ext cx="8048338" cy="500671"/>
            <a:chOff x="1853486" y="1476406"/>
            <a:chExt cx="8048338" cy="500671"/>
          </a:xfrm>
        </p:grpSpPr>
        <p:sp>
          <p:nvSpPr>
            <p:cNvPr id="48" name="Oval 29">
              <a:extLst>
                <a:ext uri="{FF2B5EF4-FFF2-40B4-BE49-F238E27FC236}">
                  <a16:creationId xmlns:a16="http://schemas.microsoft.com/office/drawing/2014/main" id="{C886F35C-7696-0F06-549B-E8D9055F435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866468" y="1885637"/>
              <a:ext cx="91440" cy="9144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buClrTx/>
                <a:buFontTx/>
                <a:buNone/>
                <a:defRPr/>
              </a:pPr>
              <a:endParaRPr lang="en-US" sz="1800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grpSp>
          <p:nvGrpSpPr>
            <p:cNvPr id="49" name="Group 69">
              <a:extLst>
                <a:ext uri="{FF2B5EF4-FFF2-40B4-BE49-F238E27FC236}">
                  <a16:creationId xmlns:a16="http://schemas.microsoft.com/office/drawing/2014/main" id="{DCD690D0-6EBE-35D9-B2B2-71990E24680D}"/>
                </a:ext>
              </a:extLst>
            </p:cNvPr>
            <p:cNvGrpSpPr/>
            <p:nvPr/>
          </p:nvGrpSpPr>
          <p:grpSpPr>
            <a:xfrm>
              <a:off x="1853486" y="1476406"/>
              <a:ext cx="8048338" cy="222319"/>
              <a:chOff x="1853486" y="1476406"/>
              <a:chExt cx="8048338" cy="222319"/>
            </a:xfrm>
          </p:grpSpPr>
          <p:sp>
            <p:nvSpPr>
              <p:cNvPr id="50" name="Rectangle 66">
                <a:extLst>
                  <a:ext uri="{FF2B5EF4-FFF2-40B4-BE49-F238E27FC236}">
                    <a16:creationId xmlns:a16="http://schemas.microsoft.com/office/drawing/2014/main" id="{28628EAC-FF18-06AF-053D-D320EFD7FA71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 rot="18960000" flipH="1">
                <a:off x="1853486" y="1698725"/>
                <a:ext cx="640080" cy="0"/>
              </a:xfrm>
              <a:prstGeom prst="rect">
                <a:avLst/>
              </a:prstGeom>
              <a:solidFill>
                <a:srgbClr val="156082"/>
              </a:solidFill>
              <a:ln w="158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  <p:sp>
            <p:nvSpPr>
              <p:cNvPr id="52" name="Rectangle 67">
                <a:extLst>
                  <a:ext uri="{FF2B5EF4-FFF2-40B4-BE49-F238E27FC236}">
                    <a16:creationId xmlns:a16="http://schemas.microsoft.com/office/drawing/2014/main" id="{1A417976-6489-C4D5-FEC7-FA0E8CF07D1E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2403744" y="1476406"/>
                <a:ext cx="7498080" cy="0"/>
              </a:xfrm>
              <a:prstGeom prst="rect">
                <a:avLst/>
              </a:prstGeom>
              <a:solidFill>
                <a:srgbClr val="156082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</p:grpSp>
      </p:grpSp>
      <p:grpSp>
        <p:nvGrpSpPr>
          <p:cNvPr id="53" name="Group 70">
            <a:extLst>
              <a:ext uri="{FF2B5EF4-FFF2-40B4-BE49-F238E27FC236}">
                <a16:creationId xmlns:a16="http://schemas.microsoft.com/office/drawing/2014/main" id="{563D0E1D-3417-402C-F734-E235D3C7400F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1377312" y="5459205"/>
            <a:ext cx="8048338" cy="500671"/>
            <a:chOff x="1853486" y="1476406"/>
            <a:chExt cx="8048338" cy="500671"/>
          </a:xfrm>
        </p:grpSpPr>
        <p:sp>
          <p:nvSpPr>
            <p:cNvPr id="54" name="Oval 29">
              <a:extLst>
                <a:ext uri="{FF2B5EF4-FFF2-40B4-BE49-F238E27FC236}">
                  <a16:creationId xmlns:a16="http://schemas.microsoft.com/office/drawing/2014/main" id="{D6E28347-289B-20D5-0CA0-2EFC2A7EF98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866468" y="1885637"/>
              <a:ext cx="91440" cy="9144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buClrTx/>
                <a:buFontTx/>
                <a:buNone/>
                <a:defRPr/>
              </a:pPr>
              <a:endParaRPr lang="en-US" sz="1800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grpSp>
          <p:nvGrpSpPr>
            <p:cNvPr id="55" name="Group 69">
              <a:extLst>
                <a:ext uri="{FF2B5EF4-FFF2-40B4-BE49-F238E27FC236}">
                  <a16:creationId xmlns:a16="http://schemas.microsoft.com/office/drawing/2014/main" id="{74F69240-E124-0411-677E-91951AFBD6DB}"/>
                </a:ext>
              </a:extLst>
            </p:cNvPr>
            <p:cNvGrpSpPr/>
            <p:nvPr/>
          </p:nvGrpSpPr>
          <p:grpSpPr>
            <a:xfrm>
              <a:off x="1853486" y="1476406"/>
              <a:ext cx="8048338" cy="222319"/>
              <a:chOff x="1853486" y="1476406"/>
              <a:chExt cx="8048338" cy="222319"/>
            </a:xfrm>
          </p:grpSpPr>
          <p:sp>
            <p:nvSpPr>
              <p:cNvPr id="56" name="Rectangle 66">
                <a:extLst>
                  <a:ext uri="{FF2B5EF4-FFF2-40B4-BE49-F238E27FC236}">
                    <a16:creationId xmlns:a16="http://schemas.microsoft.com/office/drawing/2014/main" id="{F3513EC3-9A4D-9D63-F9C2-62FF35C14F44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 rot="18960000" flipH="1">
                <a:off x="1853486" y="1698725"/>
                <a:ext cx="640080" cy="0"/>
              </a:xfrm>
              <a:prstGeom prst="rect">
                <a:avLst/>
              </a:prstGeom>
              <a:solidFill>
                <a:srgbClr val="156082"/>
              </a:solidFill>
              <a:ln w="158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  <p:sp>
            <p:nvSpPr>
              <p:cNvPr id="57" name="Rectangle 67">
                <a:extLst>
                  <a:ext uri="{FF2B5EF4-FFF2-40B4-BE49-F238E27FC236}">
                    <a16:creationId xmlns:a16="http://schemas.microsoft.com/office/drawing/2014/main" id="{F8A3A520-E722-FB22-5E12-A194BBB2B9D0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2403744" y="1476406"/>
                <a:ext cx="7498080" cy="0"/>
              </a:xfrm>
              <a:prstGeom prst="rect">
                <a:avLst/>
              </a:prstGeom>
              <a:solidFill>
                <a:srgbClr val="156082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</p:grpSp>
      </p:grpSp>
      <p:grpSp>
        <p:nvGrpSpPr>
          <p:cNvPr id="58" name="Group 70">
            <a:extLst>
              <a:ext uri="{FF2B5EF4-FFF2-40B4-BE49-F238E27FC236}">
                <a16:creationId xmlns:a16="http://schemas.microsoft.com/office/drawing/2014/main" id="{ABA6CC36-0153-C166-08A0-5C4F34915C7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1436014" y="5873160"/>
            <a:ext cx="8048338" cy="500671"/>
            <a:chOff x="1853486" y="1476406"/>
            <a:chExt cx="8048338" cy="500671"/>
          </a:xfrm>
        </p:grpSpPr>
        <p:sp>
          <p:nvSpPr>
            <p:cNvPr id="59" name="Oval 29">
              <a:extLst>
                <a:ext uri="{FF2B5EF4-FFF2-40B4-BE49-F238E27FC236}">
                  <a16:creationId xmlns:a16="http://schemas.microsoft.com/office/drawing/2014/main" id="{03DCCA77-CE09-20F8-BBB1-A7FD961898E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866468" y="1885637"/>
              <a:ext cx="91440" cy="9144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buClrTx/>
                <a:buFontTx/>
                <a:buNone/>
                <a:defRPr/>
              </a:pPr>
              <a:endParaRPr lang="en-US" sz="1800">
                <a:solidFill>
                  <a:prstClr val="white"/>
                </a:solidFill>
                <a:latin typeface="Aptos" panose="02110004020202020204"/>
                <a:ea typeface="+mn-ea"/>
              </a:endParaRPr>
            </a:p>
          </p:txBody>
        </p:sp>
        <p:grpSp>
          <p:nvGrpSpPr>
            <p:cNvPr id="60" name="Group 69">
              <a:extLst>
                <a:ext uri="{FF2B5EF4-FFF2-40B4-BE49-F238E27FC236}">
                  <a16:creationId xmlns:a16="http://schemas.microsoft.com/office/drawing/2014/main" id="{6885EBFC-6985-F0ED-7BAD-6A6B88CD09B3}"/>
                </a:ext>
              </a:extLst>
            </p:cNvPr>
            <p:cNvGrpSpPr/>
            <p:nvPr/>
          </p:nvGrpSpPr>
          <p:grpSpPr>
            <a:xfrm>
              <a:off x="1853486" y="1476406"/>
              <a:ext cx="8048338" cy="222319"/>
              <a:chOff x="1853486" y="1476406"/>
              <a:chExt cx="8048338" cy="222319"/>
            </a:xfrm>
          </p:grpSpPr>
          <p:sp>
            <p:nvSpPr>
              <p:cNvPr id="61" name="Rectangle 66">
                <a:extLst>
                  <a:ext uri="{FF2B5EF4-FFF2-40B4-BE49-F238E27FC236}">
                    <a16:creationId xmlns:a16="http://schemas.microsoft.com/office/drawing/2014/main" id="{AFECC333-8E8D-E2BB-546C-B40202B30A39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 rot="18960000" flipH="1">
                <a:off x="1853486" y="1698725"/>
                <a:ext cx="640080" cy="0"/>
              </a:xfrm>
              <a:prstGeom prst="rect">
                <a:avLst/>
              </a:prstGeom>
              <a:solidFill>
                <a:srgbClr val="156082"/>
              </a:solidFill>
              <a:ln w="158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  <p:sp>
            <p:nvSpPr>
              <p:cNvPr id="62" name="Rectangle 67">
                <a:extLst>
                  <a:ext uri="{FF2B5EF4-FFF2-40B4-BE49-F238E27FC236}">
                    <a16:creationId xmlns:a16="http://schemas.microsoft.com/office/drawing/2014/main" id="{9E81810A-24E5-DBC2-22BD-9769ACD98474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2403744" y="1476406"/>
                <a:ext cx="7498080" cy="0"/>
              </a:xfrm>
              <a:prstGeom prst="rect">
                <a:avLst/>
              </a:prstGeom>
              <a:solidFill>
                <a:srgbClr val="156082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Aptos" panose="02110004020202020204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332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5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25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Contextualização </a:t>
            </a: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3A47B5F2-3ADB-C77F-F6F4-301AE8122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285306"/>
              </p:ext>
            </p:extLst>
          </p:nvPr>
        </p:nvGraphicFramePr>
        <p:xfrm>
          <a:off x="232407" y="1244401"/>
          <a:ext cx="11959593" cy="5613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512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28D2C1C-B2D6-9D72-6750-9D38387DF7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3631201"/>
              </p:ext>
            </p:extLst>
          </p:nvPr>
        </p:nvGraphicFramePr>
        <p:xfrm>
          <a:off x="449244" y="1397286"/>
          <a:ext cx="10862603" cy="4828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0E657510-29B2-62CA-5B32-DFCCC0D92442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Pressupostos </a:t>
            </a:r>
          </a:p>
        </p:txBody>
      </p:sp>
    </p:spTree>
    <p:extLst>
      <p:ext uri="{BB962C8B-B14F-4D97-AF65-F5344CB8AC3E}">
        <p14:creationId xmlns:p14="http://schemas.microsoft.com/office/powerpoint/2010/main" val="3803638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6183140-744E-8287-C360-9EAF8B595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458" y="1439354"/>
            <a:ext cx="4506686" cy="4924786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98D0CA9-F974-DF18-29FD-EC603FBEC40A}"/>
              </a:ext>
            </a:extLst>
          </p:cNvPr>
          <p:cNvSpPr>
            <a:spLocks noGrp="1"/>
          </p:cNvSpPr>
          <p:nvPr/>
        </p:nvSpPr>
        <p:spPr>
          <a:xfrm>
            <a:off x="1578157" y="606334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PT" dirty="0">
              <a:latin typeface="Arial"/>
              <a:sym typeface="Arial"/>
            </a:endParaRPr>
          </a:p>
          <a:p>
            <a:pPr algn="ctr" defTabSz="914400"/>
            <a:r>
              <a:rPr lang="pt-PT" dirty="0">
                <a:latin typeface="Arial"/>
                <a:sym typeface="Arial"/>
              </a:rPr>
              <a:t>Que soluções temos que definir??? </a:t>
            </a:r>
          </a:p>
          <a:p>
            <a:pPr algn="ctr" defTabSz="914400"/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1872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153A47E-5C63-5811-8B51-35D240791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442327"/>
              </p:ext>
            </p:extLst>
          </p:nvPr>
        </p:nvGraphicFramePr>
        <p:xfrm>
          <a:off x="854528" y="872062"/>
          <a:ext cx="1048294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736">
                  <a:extLst>
                    <a:ext uri="{9D8B030D-6E8A-4147-A177-3AD203B41FA5}">
                      <a16:colId xmlns:a16="http://schemas.microsoft.com/office/drawing/2014/main" val="1240523941"/>
                    </a:ext>
                  </a:extLst>
                </a:gridCol>
                <a:gridCol w="2620736">
                  <a:extLst>
                    <a:ext uri="{9D8B030D-6E8A-4147-A177-3AD203B41FA5}">
                      <a16:colId xmlns:a16="http://schemas.microsoft.com/office/drawing/2014/main" val="1613411778"/>
                    </a:ext>
                  </a:extLst>
                </a:gridCol>
                <a:gridCol w="2620736">
                  <a:extLst>
                    <a:ext uri="{9D8B030D-6E8A-4147-A177-3AD203B41FA5}">
                      <a16:colId xmlns:a16="http://schemas.microsoft.com/office/drawing/2014/main" val="410861641"/>
                    </a:ext>
                  </a:extLst>
                </a:gridCol>
                <a:gridCol w="2620736">
                  <a:extLst>
                    <a:ext uri="{9D8B030D-6E8A-4147-A177-3AD203B41FA5}">
                      <a16:colId xmlns:a16="http://schemas.microsoft.com/office/drawing/2014/main" val="2415052252"/>
                    </a:ext>
                  </a:extLst>
                </a:gridCol>
              </a:tblGrid>
              <a:tr h="239108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Receita</a:t>
                      </a:r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Arrecadada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859505"/>
                  </a:ext>
                </a:extLst>
              </a:tr>
              <a:tr h="239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Descrição</a:t>
                      </a: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Arrecadada 2024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Arrecadada 2025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000" b="1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Evolução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36929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SSCM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23,131.50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20,132.99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-13%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59251580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HGCh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1,204.50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643.48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-47%</a:t>
                      </a:r>
                      <a:endParaRPr lang="en-US" sz="1900" b="0" i="0" u="none" strike="noStrike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0639669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HGMav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5,729.72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4,308.64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-25%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3526059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HGJM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2,540.12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4,270.86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68%</a:t>
                      </a:r>
                      <a:endParaRPr lang="en-US" sz="19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2388622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HGPC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795.44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669.12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-16%</a:t>
                      </a:r>
                      <a:endParaRPr lang="en-US" sz="1900" b="0" i="0" u="none" strike="noStrike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05224482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HPI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524.27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269.31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-49%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30743252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ICSI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2,979.73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3,019.22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1%</a:t>
                      </a:r>
                      <a:endParaRPr lang="en-US" sz="19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0908160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TOTAL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36,905.32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33,313.66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-10%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8638898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84D0B66B-3785-814B-C27A-10A859DA485A}"/>
              </a:ext>
            </a:extLst>
          </p:cNvPr>
          <p:cNvSpPr txBox="1">
            <a:spLocks/>
          </p:cNvSpPr>
          <p:nvPr/>
        </p:nvSpPr>
        <p:spPr>
          <a:xfrm>
            <a:off x="1348470" y="146568"/>
            <a:ext cx="9495060" cy="61307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vert="horz" wrap="square" lIns="91440" tIns="45720" rIns="91440" bIns="45720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36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3200" b="1" dirty="0" err="1">
                <a:solidFill>
                  <a:schemeClr val="bg1"/>
                </a:solidFill>
                <a:latin typeface="Arial Narrow"/>
                <a:cs typeface="Times New Roman"/>
              </a:rPr>
              <a:t>Previsão</a:t>
            </a:r>
            <a:r>
              <a:rPr lang="en-GB" sz="3200" b="1" dirty="0">
                <a:solidFill>
                  <a:schemeClr val="bg1"/>
                </a:solidFill>
                <a:latin typeface="Arial Narrow"/>
                <a:cs typeface="Times New Roman"/>
              </a:rPr>
              <a:t> de </a:t>
            </a:r>
            <a:r>
              <a:rPr lang="en-GB" sz="3200" b="1" dirty="0" err="1">
                <a:solidFill>
                  <a:schemeClr val="bg1"/>
                </a:solidFill>
                <a:latin typeface="Arial Narrow"/>
                <a:cs typeface="Times New Roman"/>
              </a:rPr>
              <a:t>Receitas</a:t>
            </a:r>
            <a:r>
              <a:rPr lang="en-GB" sz="3200" b="1" dirty="0">
                <a:solidFill>
                  <a:schemeClr val="bg1"/>
                </a:solidFill>
                <a:latin typeface="Arial Narrow"/>
                <a:cs typeface="Times New Roman"/>
              </a:rPr>
              <a:t> Proprias e </a:t>
            </a:r>
            <a:r>
              <a:rPr lang="en-GB" sz="3200" b="1" dirty="0" err="1">
                <a:solidFill>
                  <a:schemeClr val="bg1"/>
                </a:solidFill>
                <a:latin typeface="Arial Narrow"/>
                <a:cs typeface="Times New Roman"/>
              </a:rPr>
              <a:t>Consignadas</a:t>
            </a:r>
            <a:r>
              <a:rPr lang="en-GB" sz="3200" b="1" dirty="0">
                <a:solidFill>
                  <a:schemeClr val="bg1"/>
                </a:solidFill>
                <a:latin typeface="Arial Narrow"/>
                <a:cs typeface="Times New Roman"/>
              </a:rPr>
              <a:t> </a:t>
            </a:r>
            <a:endParaRPr lang="en-MZ" sz="3200" b="1" dirty="0">
              <a:solidFill>
                <a:schemeClr val="bg1"/>
              </a:solidFill>
              <a:latin typeface="Arial Narrow"/>
              <a:cs typeface="Times New Roman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63D0C6C-17D9-B4ED-EE91-861A2A208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360634"/>
              </p:ext>
            </p:extLst>
          </p:nvPr>
        </p:nvGraphicFramePr>
        <p:xfrm>
          <a:off x="843642" y="3876523"/>
          <a:ext cx="10482944" cy="297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736">
                  <a:extLst>
                    <a:ext uri="{9D8B030D-6E8A-4147-A177-3AD203B41FA5}">
                      <a16:colId xmlns:a16="http://schemas.microsoft.com/office/drawing/2014/main" val="1240523941"/>
                    </a:ext>
                  </a:extLst>
                </a:gridCol>
                <a:gridCol w="2620736">
                  <a:extLst>
                    <a:ext uri="{9D8B030D-6E8A-4147-A177-3AD203B41FA5}">
                      <a16:colId xmlns:a16="http://schemas.microsoft.com/office/drawing/2014/main" val="1613411778"/>
                    </a:ext>
                  </a:extLst>
                </a:gridCol>
                <a:gridCol w="2620736">
                  <a:extLst>
                    <a:ext uri="{9D8B030D-6E8A-4147-A177-3AD203B41FA5}">
                      <a16:colId xmlns:a16="http://schemas.microsoft.com/office/drawing/2014/main" val="410861641"/>
                    </a:ext>
                  </a:extLst>
                </a:gridCol>
                <a:gridCol w="2620736">
                  <a:extLst>
                    <a:ext uri="{9D8B030D-6E8A-4147-A177-3AD203B41FA5}">
                      <a16:colId xmlns:a16="http://schemas.microsoft.com/office/drawing/2014/main" val="2415052252"/>
                    </a:ext>
                  </a:extLst>
                </a:gridCol>
              </a:tblGrid>
              <a:tr h="239108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CFMP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859505"/>
                  </a:ext>
                </a:extLst>
              </a:tr>
              <a:tr h="239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 err="1">
                          <a:solidFill>
                            <a:schemeClr val="bg1"/>
                          </a:solidFill>
                          <a:effectLst/>
                          <a:latin typeface="Century Gothic (Corpo)"/>
                        </a:rPr>
                        <a:t>Descrição</a:t>
                      </a: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 (Corpo)"/>
                        </a:rPr>
                        <a:t> 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entury Gothic (Corpo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 (Corpo)"/>
                        </a:rPr>
                        <a:t>2027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entury Gothic (Corpo)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 (Corpo)"/>
                        </a:rPr>
                        <a:t>2028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entury Gothic (Corpo)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 (Corpo)"/>
                        </a:rPr>
                        <a:t>2029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36929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 (Corpo)"/>
                        </a:rPr>
                        <a:t>SSCM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22,692.55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23,373.32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24,074.52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59251580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 (Corpo)"/>
                        </a:rPr>
                        <a:t>HGJM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3,300.00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3,630.00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3,993.00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0639669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 (Corpo)"/>
                        </a:rPr>
                        <a:t>HGC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707.84   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778.62   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856.49   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3526059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 (Corpo)"/>
                        </a:rPr>
                        <a:t>HPI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287.59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330.74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380.35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22388622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 (Corpo)"/>
                        </a:rPr>
                        <a:t>HGP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4,437.91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4,571.05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4,708.18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05224482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 (Corpo)"/>
                        </a:rPr>
                        <a:t>HGPC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728.16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728.16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728.16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30743252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 (Corpo)"/>
                        </a:rPr>
                        <a:t>ICSM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2,538.90   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2,665.85   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2,799.14   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40908160"/>
                  </a:ext>
                </a:extLst>
              </a:tr>
              <a:tr h="205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TOTAL</a:t>
                      </a:r>
                      <a:endParaRPr lang="en-US" sz="1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34,692.95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36,077.74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37,539.84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86388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10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2860-4C3A-CBB7-5546-CF3951C1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5E2F-608A-8DE4-DC45-5142F7341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741" y="2041452"/>
            <a:ext cx="8271002" cy="1552353"/>
          </a:xfrm>
        </p:spPr>
        <p:txBody>
          <a:bodyPr>
            <a:normAutofit/>
          </a:bodyPr>
          <a:lstStyle/>
          <a:p>
            <a:pPr algn="ctr"/>
            <a:r>
              <a:rPr lang="pt-PT" dirty="0"/>
              <a:t>3. Alocação estratégica de recursos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7E447-AC2A-AB13-AFE4-754C0664FB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AB2008-7A04-3C03-961C-493D5318F289}"/>
              </a:ext>
            </a:extLst>
          </p:cNvPr>
          <p:cNvSpPr txBox="1">
            <a:spLocks/>
          </p:cNvSpPr>
          <p:nvPr/>
        </p:nvSpPr>
        <p:spPr>
          <a:xfrm>
            <a:off x="2288141" y="2193852"/>
            <a:ext cx="8271002" cy="15523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PT" dirty="0">
                <a:solidFill>
                  <a:schemeClr val="bg1"/>
                </a:solidFill>
              </a:rPr>
              <a:t>Alocação estratégica de recursos  </a:t>
            </a:r>
          </a:p>
        </p:txBody>
      </p:sp>
    </p:spTree>
    <p:extLst>
      <p:ext uri="{BB962C8B-B14F-4D97-AF65-F5344CB8AC3E}">
        <p14:creationId xmlns:p14="http://schemas.microsoft.com/office/powerpoint/2010/main" val="1113509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2860-4C3A-CBB7-5546-CF3951C1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5E2F-608A-8DE4-DC45-5142F7341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 anchor="ctr">
            <a:normAutofit/>
          </a:bodyPr>
          <a:lstStyle/>
          <a:p>
            <a:r>
              <a:rPr lang="pt-PT"/>
              <a:t>3. Alocação estratégica de recursos  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ECB7E447-AC2A-AB13-AFE4-754C0664FB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D62E8AD-0D6C-C950-8BDE-AC1A89F31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" y="1680785"/>
            <a:ext cx="11014745" cy="394999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DD00428-A3D0-E924-9E7C-C299E3CF1621}"/>
              </a:ext>
            </a:extLst>
          </p:cNvPr>
          <p:cNvSpPr txBox="1">
            <a:spLocks/>
          </p:cNvSpPr>
          <p:nvPr/>
        </p:nvSpPr>
        <p:spPr>
          <a:xfrm>
            <a:off x="1300162" y="250531"/>
            <a:ext cx="9591675" cy="61307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vert="horz" wrap="square" lIns="91440" tIns="45720" rIns="91440" bIns="45720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36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3200" b="1" dirty="0">
                <a:solidFill>
                  <a:schemeClr val="bg1"/>
                </a:solidFill>
                <a:latin typeface="Arial Narrow"/>
                <a:cs typeface="Times New Roman"/>
              </a:rPr>
              <a:t>  </a:t>
            </a:r>
            <a:r>
              <a:rPr lang="en-GB" sz="3200" b="1" dirty="0" err="1">
                <a:solidFill>
                  <a:schemeClr val="bg1"/>
                </a:solidFill>
                <a:latin typeface="Arial Narrow"/>
                <a:cs typeface="Times New Roman"/>
              </a:rPr>
              <a:t>Previsão</a:t>
            </a:r>
            <a:r>
              <a:rPr lang="en-GB" sz="3200" b="1" dirty="0">
                <a:solidFill>
                  <a:schemeClr val="bg1"/>
                </a:solidFill>
                <a:latin typeface="Arial Narrow"/>
                <a:cs typeface="Times New Roman"/>
              </a:rPr>
              <a:t> do </a:t>
            </a:r>
            <a:r>
              <a:rPr lang="en-GB" sz="3200" b="1" dirty="0" err="1">
                <a:solidFill>
                  <a:schemeClr val="bg1"/>
                </a:solidFill>
                <a:latin typeface="Arial Narrow"/>
                <a:cs typeface="Times New Roman"/>
              </a:rPr>
              <a:t>MapaC</a:t>
            </a:r>
            <a:r>
              <a:rPr lang="en-GB" sz="3200" b="1" dirty="0">
                <a:solidFill>
                  <a:schemeClr val="bg1"/>
                </a:solidFill>
                <a:latin typeface="Arial Narrow"/>
                <a:cs typeface="Times New Roman"/>
              </a:rPr>
              <a:t> – </a:t>
            </a:r>
            <a:r>
              <a:rPr lang="en-GB" sz="3200" b="1" dirty="0" err="1">
                <a:solidFill>
                  <a:schemeClr val="bg1"/>
                </a:solidFill>
                <a:latin typeface="Arial Narrow"/>
                <a:cs typeface="Times New Roman"/>
              </a:rPr>
              <a:t>Funcionamento_nível</a:t>
            </a:r>
            <a:r>
              <a:rPr lang="en-GB" sz="3200" b="1" dirty="0">
                <a:solidFill>
                  <a:schemeClr val="bg1"/>
                </a:solidFill>
                <a:latin typeface="Arial Narrow"/>
                <a:cs typeface="Times New Roman"/>
              </a:rPr>
              <a:t> Provincial  </a:t>
            </a:r>
            <a:endParaRPr lang="en-MZ" sz="3200" b="1" dirty="0">
              <a:solidFill>
                <a:schemeClr val="bg1"/>
              </a:solidFill>
              <a:latin typeface="Arial Narrow"/>
              <a:cs typeface="Times New Roman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5328AEB-671B-3EAC-8686-01A3F6692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612" y="1067716"/>
            <a:ext cx="1975018" cy="61307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B71EAFE-4CCB-897C-79B6-4241F86129C2}"/>
              </a:ext>
            </a:extLst>
          </p:cNvPr>
          <p:cNvSpPr/>
          <p:nvPr/>
        </p:nvSpPr>
        <p:spPr>
          <a:xfrm>
            <a:off x="6226629" y="5192485"/>
            <a:ext cx="1251857" cy="427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gency FB" panose="020B0503020202020204" pitchFamily="34" charset="0"/>
              </a:rPr>
              <a:t>307 707,40</a:t>
            </a:r>
          </a:p>
        </p:txBody>
      </p:sp>
    </p:spTree>
    <p:extLst>
      <p:ext uri="{BB962C8B-B14F-4D97-AF65-F5344CB8AC3E}">
        <p14:creationId xmlns:p14="http://schemas.microsoft.com/office/powerpoint/2010/main" val="2997621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7085674-2A6C-D2D3-0A72-B0B4083321F8}"/>
              </a:ext>
            </a:extLst>
          </p:cNvPr>
          <p:cNvSpPr txBox="1">
            <a:spLocks/>
          </p:cNvSpPr>
          <p:nvPr/>
        </p:nvSpPr>
        <p:spPr>
          <a:xfrm>
            <a:off x="1428749" y="394699"/>
            <a:ext cx="9334501" cy="75564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vert="horz" wrap="square" lIns="91440" tIns="45720" rIns="91440" bIns="45720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36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3200" b="1" dirty="0" err="1">
                <a:solidFill>
                  <a:schemeClr val="bg1"/>
                </a:solidFill>
                <a:latin typeface="Arial Narrow"/>
                <a:cs typeface="Times New Roman"/>
              </a:rPr>
              <a:t>Previsão</a:t>
            </a:r>
            <a:r>
              <a:rPr lang="en-GB" sz="3200" b="1" dirty="0">
                <a:solidFill>
                  <a:schemeClr val="bg1"/>
                </a:solidFill>
                <a:latin typeface="Arial Narrow"/>
                <a:cs typeface="Times New Roman"/>
              </a:rPr>
              <a:t> de Actos </a:t>
            </a:r>
            <a:r>
              <a:rPr lang="en-GB" sz="3200" b="1" dirty="0" err="1">
                <a:solidFill>
                  <a:schemeClr val="bg1"/>
                </a:solidFill>
                <a:latin typeface="Arial Narrow"/>
                <a:cs typeface="Times New Roman"/>
              </a:rPr>
              <a:t>Adminstrativos</a:t>
            </a:r>
            <a:r>
              <a:rPr lang="en-GB" sz="3200" b="1" dirty="0">
                <a:solidFill>
                  <a:schemeClr val="bg1"/>
                </a:solidFill>
                <a:latin typeface="Arial Narrow"/>
                <a:cs typeface="Times New Roman"/>
              </a:rPr>
              <a:t>_ Quadro do </a:t>
            </a:r>
            <a:r>
              <a:rPr lang="en-GB" sz="3200" b="1" dirty="0" err="1">
                <a:solidFill>
                  <a:schemeClr val="bg1"/>
                </a:solidFill>
                <a:latin typeface="Arial Narrow"/>
                <a:cs typeface="Times New Roman"/>
              </a:rPr>
              <a:t>Pessoal</a:t>
            </a:r>
            <a:endParaRPr lang="en-MZ" sz="3200" b="1" dirty="0">
              <a:solidFill>
                <a:schemeClr val="bg1"/>
              </a:solidFill>
              <a:latin typeface="Arial Narrow"/>
              <a:cs typeface="Times New Roman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19ACD9A-A18A-A6F8-9622-D3F7791A0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439" y="1293597"/>
            <a:ext cx="1765403" cy="613069"/>
          </a:xfrm>
          <a:prstGeom prst="rect">
            <a:avLst/>
          </a:prstGeom>
        </p:spPr>
      </p:pic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CB8F8B62-E659-2126-86C4-70540E309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847278"/>
              </p:ext>
            </p:extLst>
          </p:nvPr>
        </p:nvGraphicFramePr>
        <p:xfrm>
          <a:off x="1707294" y="1763417"/>
          <a:ext cx="8777409" cy="4465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067374" imgH="2578056" progId="Excel.Sheet.12">
                  <p:embed/>
                </p:oleObj>
              </mc:Choice>
              <mc:Fallback>
                <p:oleObj name="Worksheet" r:id="rId3" imgW="5067374" imgH="257805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7294" y="1763417"/>
                        <a:ext cx="8777409" cy="44656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7385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5F6501-2BAC-335C-B81B-63060FD27235}"/>
              </a:ext>
            </a:extLst>
          </p:cNvPr>
          <p:cNvSpPr txBox="1">
            <a:spLocks/>
          </p:cNvSpPr>
          <p:nvPr/>
        </p:nvSpPr>
        <p:spPr>
          <a:xfrm>
            <a:off x="1348470" y="146568"/>
            <a:ext cx="9495060" cy="93627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vert="horz" wrap="square" lIns="91440" tIns="45720" rIns="91440" bIns="45720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36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3200" b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Mapa B _ Investimentos(2)</a:t>
            </a:r>
            <a:endParaRPr lang="en-MZ" sz="3200" b="1" dirty="0">
              <a:solidFill>
                <a:schemeClr val="bg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EC506B3-23FF-51FC-C503-C195BBA0A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03" y="1573773"/>
            <a:ext cx="10322413" cy="435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241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2F221F6-2B5E-D313-17C4-724A21376DA4}"/>
              </a:ext>
            </a:extLst>
          </p:cNvPr>
          <p:cNvSpPr/>
          <p:nvPr/>
        </p:nvSpPr>
        <p:spPr>
          <a:xfrm>
            <a:off x="664698" y="2294938"/>
            <a:ext cx="10862603" cy="630000"/>
          </a:xfrm>
          <a:prstGeom prst="rect">
            <a:avLst/>
          </a:prstGeom>
          <a:scene3d>
            <a:camera prst="orthographicFront"/>
            <a:lightRig rig="flat" dir="t"/>
          </a:scene3d>
          <a:sp3d z="190500" extrusionH="12700" prstMaterial="plastic">
            <a:bevelT w="50800" h="50800"/>
          </a:sp3d>
        </p:spPr>
        <p:style>
          <a:lnRef idx="1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A1DD83B1-CB1E-38E6-5203-92129A41A064}"/>
              </a:ext>
            </a:extLst>
          </p:cNvPr>
          <p:cNvGrpSpPr/>
          <p:nvPr/>
        </p:nvGrpSpPr>
        <p:grpSpPr>
          <a:xfrm>
            <a:off x="1181838" y="1665062"/>
            <a:ext cx="10342800" cy="998875"/>
            <a:chOff x="517140" y="83488"/>
            <a:chExt cx="10342800" cy="998875"/>
          </a:xfrm>
          <a:scene3d>
            <a:camera prst="orthographicFront"/>
            <a:lightRig rig="flat" dir="t"/>
          </a:scene3d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BBF09B10-538E-6C3A-7C98-E7461D79A754}"/>
                </a:ext>
              </a:extLst>
            </p:cNvPr>
            <p:cNvSpPr/>
            <p:nvPr/>
          </p:nvSpPr>
          <p:spPr>
            <a:xfrm>
              <a:off x="517140" y="83488"/>
              <a:ext cx="10342800" cy="998875"/>
            </a:xfrm>
            <a:prstGeom prst="roundRect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tângulo: Cantos Arredondados 5">
              <a:extLst>
                <a:ext uri="{FF2B5EF4-FFF2-40B4-BE49-F238E27FC236}">
                  <a16:creationId xmlns:a16="http://schemas.microsoft.com/office/drawing/2014/main" id="{BFA6B102-327A-2252-5294-B70E0805C55D}"/>
                </a:ext>
              </a:extLst>
            </p:cNvPr>
            <p:cNvSpPr txBox="1"/>
            <p:nvPr/>
          </p:nvSpPr>
          <p:spPr>
            <a:xfrm>
              <a:off x="565901" y="132249"/>
              <a:ext cx="10245278" cy="90135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7406" tIns="0" rIns="287406" bIns="0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2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2C52F207-42FB-1B03-DA8B-23D4D35B8658}"/>
              </a:ext>
            </a:extLst>
          </p:cNvPr>
          <p:cNvSpPr/>
          <p:nvPr/>
        </p:nvSpPr>
        <p:spPr>
          <a:xfrm>
            <a:off x="664698" y="3428938"/>
            <a:ext cx="10862603" cy="630000"/>
          </a:xfrm>
          <a:prstGeom prst="rect">
            <a:avLst/>
          </a:prstGeom>
          <a:scene3d>
            <a:camera prst="orthographicFront"/>
            <a:lightRig rig="flat" dir="t"/>
          </a:scene3d>
          <a:sp3d z="190500" extrusionH="12700" prstMaterial="plastic">
            <a:bevelT w="50800" h="50800"/>
          </a:sp3d>
        </p:spPr>
        <p:style>
          <a:lnRef idx="1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E5C6434-0AAC-A378-60FB-4D3F8BC21819}"/>
              </a:ext>
            </a:extLst>
          </p:cNvPr>
          <p:cNvGrpSpPr/>
          <p:nvPr/>
        </p:nvGrpSpPr>
        <p:grpSpPr>
          <a:xfrm>
            <a:off x="1181838" y="3059938"/>
            <a:ext cx="10342800" cy="738000"/>
            <a:chOff x="517140" y="1478364"/>
            <a:chExt cx="10342800" cy="738000"/>
          </a:xfrm>
          <a:scene3d>
            <a:camera prst="orthographicFront"/>
            <a:lightRig rig="flat" dir="t"/>
          </a:scene3d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552AFA4C-21E0-A7E9-166F-2BFE826C646D}"/>
                </a:ext>
              </a:extLst>
            </p:cNvPr>
            <p:cNvSpPr/>
            <p:nvPr/>
          </p:nvSpPr>
          <p:spPr>
            <a:xfrm>
              <a:off x="517140" y="1478364"/>
              <a:ext cx="10342800" cy="738000"/>
            </a:xfrm>
            <a:prstGeom prst="roundRect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tângulo: Cantos Arredondados 8">
              <a:extLst>
                <a:ext uri="{FF2B5EF4-FFF2-40B4-BE49-F238E27FC236}">
                  <a16:creationId xmlns:a16="http://schemas.microsoft.com/office/drawing/2014/main" id="{947C3D20-91D8-653D-0CD0-89B4373A79E2}"/>
                </a:ext>
              </a:extLst>
            </p:cNvPr>
            <p:cNvSpPr txBox="1"/>
            <p:nvPr/>
          </p:nvSpPr>
          <p:spPr>
            <a:xfrm>
              <a:off x="553166" y="1514390"/>
              <a:ext cx="10270748" cy="6659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7406" tIns="0" rIns="287406" bIns="0" numCol="1" spcCol="1270" anchor="ctr" anchorCtr="0">
              <a:noAutofit/>
            </a:bodyPr>
            <a:lstStyle/>
            <a:p>
              <a:pPr lvl="0"/>
              <a:r>
                <a:rPr lang="pt-PT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Fortalecimento na alocação e utilização eficiente de recursos</a:t>
              </a:r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CFD99200-5957-047A-8ED2-D4292964FE96}"/>
              </a:ext>
            </a:extLst>
          </p:cNvPr>
          <p:cNvSpPr/>
          <p:nvPr/>
        </p:nvSpPr>
        <p:spPr>
          <a:xfrm>
            <a:off x="664698" y="4562938"/>
            <a:ext cx="10862603" cy="630000"/>
          </a:xfrm>
          <a:prstGeom prst="rect">
            <a:avLst/>
          </a:prstGeom>
          <a:scene3d>
            <a:camera prst="orthographicFront"/>
            <a:lightRig rig="flat" dir="t"/>
          </a:scene3d>
          <a:sp3d z="190500" extrusionH="12700" prstMaterial="plastic">
            <a:bevelT w="50800" h="50800"/>
          </a:sp3d>
        </p:spPr>
        <p:style>
          <a:lnRef idx="1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E893FA0-2F3C-B2DB-8387-6B4A9EE768E3}"/>
              </a:ext>
            </a:extLst>
          </p:cNvPr>
          <p:cNvGrpSpPr/>
          <p:nvPr/>
        </p:nvGrpSpPr>
        <p:grpSpPr>
          <a:xfrm>
            <a:off x="1181838" y="4193938"/>
            <a:ext cx="10342800" cy="738000"/>
            <a:chOff x="517140" y="2612364"/>
            <a:chExt cx="10342800" cy="738000"/>
          </a:xfrm>
          <a:scene3d>
            <a:camera prst="orthographicFront"/>
            <a:lightRig rig="flat" dir="t"/>
          </a:scene3d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EE827705-9F90-0920-1815-497CABC2B2F7}"/>
                </a:ext>
              </a:extLst>
            </p:cNvPr>
            <p:cNvSpPr/>
            <p:nvPr/>
          </p:nvSpPr>
          <p:spPr>
            <a:xfrm>
              <a:off x="517140" y="2612364"/>
              <a:ext cx="10342800" cy="738000"/>
            </a:xfrm>
            <a:prstGeom prst="roundRect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1">
              <a:extLst>
                <a:ext uri="{FF2B5EF4-FFF2-40B4-BE49-F238E27FC236}">
                  <a16:creationId xmlns:a16="http://schemas.microsoft.com/office/drawing/2014/main" id="{2200224F-01EA-2EF7-890E-D4E7133346C7}"/>
                </a:ext>
              </a:extLst>
            </p:cNvPr>
            <p:cNvSpPr txBox="1"/>
            <p:nvPr/>
          </p:nvSpPr>
          <p:spPr>
            <a:xfrm>
              <a:off x="553166" y="2648390"/>
              <a:ext cx="10270748" cy="6659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7406" tIns="0" rIns="287406" bIns="0" numCol="1" spcCol="1270" anchor="ctr" anchorCtr="0">
              <a:noAutofit/>
            </a:bodyPr>
            <a:lstStyle/>
            <a:p>
              <a:pPr lvl="0"/>
              <a:r>
                <a:rPr lang="pt-PT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Reforço da capacidade técnica na planificação e Orçamentação da receita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874E50F4-C749-5E44-103B-719BE8181125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Desafios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7C4AB5D-F531-1A8B-1D26-772F92D124DF}"/>
              </a:ext>
            </a:extLst>
          </p:cNvPr>
          <p:cNvSpPr txBox="1"/>
          <p:nvPr/>
        </p:nvSpPr>
        <p:spPr>
          <a:xfrm>
            <a:off x="1480457" y="1744164"/>
            <a:ext cx="100081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redução gradual do financiamento externo e nescessidade de maior mobilização de recursos internos;</a:t>
            </a:r>
          </a:p>
        </p:txBody>
      </p:sp>
    </p:spTree>
    <p:extLst>
      <p:ext uri="{BB962C8B-B14F-4D97-AF65-F5344CB8AC3E}">
        <p14:creationId xmlns:p14="http://schemas.microsoft.com/office/powerpoint/2010/main" val="179548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5024" y="2766377"/>
            <a:ext cx="9441951" cy="132524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pt-PT" sz="4800" b="1" dirty="0">
                <a:solidFill>
                  <a:srgbClr val="DBEFF9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Muito obrigado!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76188976377955,&quot;left&quot;:191.65417322834645,&quot;top&quot;:107.88527559055117,&quot;width&quot;:644.7907086614173}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2302</TotalTime>
  <Words>529</Words>
  <Application>Microsoft Office PowerPoint</Application>
  <PresentationFormat>Widescreen</PresentationFormat>
  <Paragraphs>139</Paragraphs>
  <Slides>13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6" baseType="lpstr">
      <vt:lpstr>Abadi</vt:lpstr>
      <vt:lpstr>Agency FB</vt:lpstr>
      <vt:lpstr>Aptos</vt:lpstr>
      <vt:lpstr>Arial</vt:lpstr>
      <vt:lpstr>Arial Narrow</vt:lpstr>
      <vt:lpstr>Century Gothic</vt:lpstr>
      <vt:lpstr>Century Gothic (Corpo)</vt:lpstr>
      <vt:lpstr>Garet Bold</vt:lpstr>
      <vt:lpstr>Garet Bold Italics</vt:lpstr>
      <vt:lpstr>Times New Roman</vt:lpstr>
      <vt:lpstr>Wingdings 3</vt:lpstr>
      <vt:lpstr>Slice</vt:lpstr>
      <vt:lpstr>Microsoft Excel 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3. Alocação estratégica de recursos  </vt:lpstr>
      <vt:lpstr>3. Alocação estratégica de recursos  </vt:lpstr>
      <vt:lpstr>Apresentação do PowerPoint</vt:lpstr>
      <vt:lpstr>Apresentação do PowerPoint</vt:lpstr>
      <vt:lpstr>Apresentação do PowerPoint</vt:lpstr>
      <vt:lpstr>Muito 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9qwjc</cp:lastModifiedBy>
  <cp:revision>137</cp:revision>
  <dcterms:created xsi:type="dcterms:W3CDTF">2025-07-14T08:03:00Z</dcterms:created>
  <dcterms:modified xsi:type="dcterms:W3CDTF">2026-07-01T07:36:56Z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