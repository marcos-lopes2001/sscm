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09" r:id="rId2"/>
    <p:sldId id="829" r:id="rId3"/>
    <p:sldId id="434" r:id="rId4"/>
    <p:sldId id="818" r:id="rId5"/>
    <p:sldId id="819" r:id="rId6"/>
    <p:sldId id="820" r:id="rId7"/>
    <p:sldId id="821" r:id="rId8"/>
    <p:sldId id="822" r:id="rId9"/>
    <p:sldId id="823" r:id="rId10"/>
    <p:sldId id="824" r:id="rId11"/>
    <p:sldId id="825" r:id="rId12"/>
    <p:sldId id="826" r:id="rId13"/>
    <p:sldId id="827" r:id="rId14"/>
    <p:sldId id="828" r:id="rId15"/>
    <p:sldId id="68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F7D95"/>
    <a:srgbClr val="59AF7D"/>
    <a:srgbClr val="0A508F"/>
    <a:srgbClr val="EFF505"/>
    <a:srgbClr val="00FFCC"/>
    <a:srgbClr val="FFFF99"/>
    <a:srgbClr val="003E1C"/>
    <a:srgbClr val="94C765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66" autoAdjust="0"/>
    <p:restoredTop sz="94434" autoAdjust="0"/>
  </p:normalViewPr>
  <p:slideViewPr>
    <p:cSldViewPr snapToGrid="0" showGuides="1">
      <p:cViewPr varScale="1">
        <p:scale>
          <a:sx n="71" d="100"/>
          <a:sy n="71" d="100"/>
        </p:scale>
        <p:origin x="876" y="66"/>
      </p:cViewPr>
      <p:guideLst>
        <p:guide orient="horz" pos="2136"/>
        <p:guide pos="36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884"/>
    </p:cViewPr>
  </p:sorterViewPr>
  <p:notesViewPr>
    <p:cSldViewPr snapToGrid="0">
      <p:cViewPr varScale="1">
        <p:scale>
          <a:sx n="71" d="100"/>
          <a:sy n="71" d="100"/>
        </p:scale>
        <p:origin x="197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  <a:t>30/06/2026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256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  <a:t>30/06/2026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2241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946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BD94F-7CC6-0C3A-5B8A-FD982123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3D41C2C-2EB8-2B1C-397F-3D228CAEB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1C5ABD8-C0DB-9E18-EFB4-F531B3228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E69014C-5801-27E2-CE9E-B047C6786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22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4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pt-BR" sz="108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pt-BR" sz="108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982325" y="0"/>
            <a:ext cx="1209675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83" y="141288"/>
            <a:ext cx="133032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59467" y="865330"/>
            <a:ext cx="9029444" cy="15696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REPÚBLICA DE MOÇAMBIQUE</a:t>
            </a: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CIDADE DE MAPUTO</a:t>
            </a: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CONSELHO DOS SERVIÇOS DE REPRESENTAÇÃO DO ESTADO</a:t>
            </a:r>
          </a:p>
          <a:p>
            <a:pPr algn="ctr"/>
            <a:r>
              <a:rPr lang="pt-PT" sz="2400" b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SERVIÇO DE SAÚDE DA CIDADE</a:t>
            </a:r>
          </a:p>
        </p:txBody>
      </p:sp>
      <p:sp>
        <p:nvSpPr>
          <p:cNvPr id="8" name="Footer Placeholder 3"/>
          <p:cNvSpPr txBox="1"/>
          <p:nvPr/>
        </p:nvSpPr>
        <p:spPr>
          <a:xfrm>
            <a:off x="882775" y="6428223"/>
            <a:ext cx="9782827" cy="365125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Cidade de Maputo, Julho de 2026</a:t>
            </a:r>
            <a:endParaRPr lang="en-US" sz="1600" dirty="0">
              <a:solidFill>
                <a:prstClr val="black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4480" y="2719305"/>
            <a:ext cx="10903620" cy="15696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48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Reunião de </a:t>
            </a:r>
            <a:r>
              <a:rPr lang="pt-BR" sz="4800" b="1" dirty="0" err="1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Planificacao</a:t>
            </a:r>
            <a:r>
              <a:rPr lang="pt-BR" sz="48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Integrada para </a:t>
            </a:r>
            <a:r>
              <a:rPr lang="pt-BR" sz="4800" b="1" dirty="0" err="1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Elaboracao</a:t>
            </a:r>
            <a:r>
              <a:rPr lang="pt-BR" sz="48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de PESOE 2027</a:t>
            </a:r>
          </a:p>
        </p:txBody>
      </p:sp>
      <p:sp>
        <p:nvSpPr>
          <p:cNvPr id="10" name="Subtitle 2"/>
          <p:cNvSpPr txBox="1"/>
          <p:nvPr/>
        </p:nvSpPr>
        <p:spPr>
          <a:xfrm>
            <a:off x="314395" y="5457301"/>
            <a:ext cx="10579100" cy="53536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BR" sz="3200" b="1" i="1" kern="0" dirty="0">
                <a:solidFill>
                  <a:srgbClr val="002060"/>
                </a:solidFill>
                <a:latin typeface="Arial Narrow" panose="020B0606020202030204" pitchFamily="34" charset="0"/>
                <a:ea typeface="Kozuka Gothic Pro B" pitchFamily="34" charset="-128"/>
                <a:cs typeface="Arial" panose="020B0604020202020204" pitchFamily="34" charset="0"/>
              </a:rPr>
              <a:t>Único Plano, Único Orçamento, Única Monitoria e Avaliação</a:t>
            </a:r>
            <a:endParaRPr lang="en-US" sz="3600" b="1" i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11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90763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1E09E-0833-C896-0263-AE94DB5AD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Users\DACUNHA\Pictures\image_preview.png">
            <a:extLst>
              <a:ext uri="{FF2B5EF4-FFF2-40B4-BE49-F238E27FC236}">
                <a16:creationId xmlns:a16="http://schemas.microsoft.com/office/drawing/2014/main" id="{EFE3AB64-E348-F086-A6A5-EE454D254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83" y="141288"/>
            <a:ext cx="133032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3D52F02-1553-AEE9-4E45-384AB7937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467" y="865330"/>
            <a:ext cx="9029444" cy="15696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REPÚBLICA DE MOÇAMBIQUE</a:t>
            </a: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CIDADE DE MAPUTO</a:t>
            </a:r>
          </a:p>
          <a:p>
            <a:pPr algn="ctr"/>
            <a:r>
              <a:rPr lang="pt-PT" sz="2400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CONSELHO DOS SERVIÇOS DE REPRESENTAÇÃO DO ESTADO</a:t>
            </a:r>
          </a:p>
          <a:p>
            <a:pPr algn="ctr"/>
            <a:r>
              <a:rPr lang="pt-PT" sz="2400" b="1" dirty="0">
                <a:solidFill>
                  <a:prstClr val="black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SERVIÇO DE SAÚDE DA CIDADE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079460D-361B-5170-3D90-5A3F4E3119FE}"/>
              </a:ext>
            </a:extLst>
          </p:cNvPr>
          <p:cNvSpPr txBox="1"/>
          <p:nvPr/>
        </p:nvSpPr>
        <p:spPr>
          <a:xfrm>
            <a:off x="922879" y="6280683"/>
            <a:ext cx="9782827" cy="365125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Cidade de Maputo, Julho de 2026</a:t>
            </a:r>
            <a:endParaRPr lang="en-US" sz="1600" dirty="0">
              <a:solidFill>
                <a:prstClr val="black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763E7D-7BD8-1DB0-C4B5-6DB7E0559054}"/>
              </a:ext>
            </a:extLst>
          </p:cNvPr>
          <p:cNvSpPr/>
          <p:nvPr/>
        </p:nvSpPr>
        <p:spPr>
          <a:xfrm>
            <a:off x="564480" y="2719305"/>
            <a:ext cx="10903620" cy="15696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4800" b="1" dirty="0">
                <a:solidFill>
                  <a:prstClr val="white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Do Gestor ao Líder: Desenvolvendo Competências para Inspirar Resultados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D06B7F4-ACFB-AB70-6F9A-377A407D1C63}"/>
              </a:ext>
            </a:extLst>
          </p:cNvPr>
          <p:cNvSpPr txBox="1"/>
          <p:nvPr/>
        </p:nvSpPr>
        <p:spPr>
          <a:xfrm>
            <a:off x="314395" y="5232399"/>
            <a:ext cx="10579100" cy="53536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457200" eaLnBrk="0" hangingPunc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pt-BR" altLang="pt-PT" sz="3200" b="1" i="1" kern="0">
                <a:solidFill>
                  <a:srgbClr val="002060"/>
                </a:solidFill>
                <a:latin typeface="Arial Narrow" panose="020B0606020202030204" pitchFamily="34" charset="0"/>
                <a:ea typeface="Kozuka Gothic Pro B" pitchFamily="34" charset="-128"/>
                <a:cs typeface="Arial" panose="020B0604020202020204" pitchFamily="34" charset="0"/>
              </a:rPr>
              <a:t>Único Plano, Único Orçamento, Única Monitoria e Avaliação</a:t>
            </a:r>
            <a:endParaRPr lang="pt-BR" altLang="pt-PT" sz="3200" b="1" i="1" kern="0" dirty="0">
              <a:solidFill>
                <a:srgbClr val="002060"/>
              </a:solidFill>
              <a:latin typeface="Arial Narrow" panose="020B0606020202030204" pitchFamily="34" charset="0"/>
              <a:ea typeface="Kozuka Gothic Pro B" pitchFamily="34" charset="-128"/>
              <a:cs typeface="Arial" panose="020B0604020202020204" pitchFamily="34" charset="0"/>
            </a:endParaRPr>
          </a:p>
        </p:txBody>
      </p:sp>
      <p:sp>
        <p:nvSpPr>
          <p:cNvPr id="11" name="Estrela de 10 Pontos 7">
            <a:extLst>
              <a:ext uri="{FF2B5EF4-FFF2-40B4-BE49-F238E27FC236}">
                <a16:creationId xmlns:a16="http://schemas.microsoft.com/office/drawing/2014/main" id="{FBE8DFE0-F7BB-CD43-B5C3-CFF9C627DF48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752360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Contextualização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02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D2712-2C6B-92C1-28B5-ED44E6EAC702}"/>
              </a:ext>
            </a:extLst>
          </p:cNvPr>
          <p:cNvSpPr txBox="1">
            <a:spLocks/>
          </p:cNvSpPr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tema do </a:t>
            </a:r>
            <a:r>
              <a:rPr lang="pt-BR" sz="2800" b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Gestor ao Líder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: desenvolvendo competências para inspirar resultados, convida nos a refletir sobre a evolução do papel dos gestores de saúde, destacando a importância da liderança como uma competência essencial para enfrentar os diversos desafios. 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Esta apresentação visa sensibilizar os gestores para a necessidade de fortalecer as suas competências de liderança, contribuindo para equipas mais motivados, serviços mais eficientes e um atendimento cada vez mais humanizado.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 transição de gestor para líder não significa abandonar as funções de gestão, mas sim complementa- </a:t>
            </a:r>
            <a:r>
              <a:rPr lang="pt-BR" sz="2800" dirty="0" err="1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las</a:t>
            </a: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de modo a permitir inspirar, influenciar e transformar pessoas, tornando os desafios em oportunidades de crescimento e melhoria continua.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90EBE-546E-7D17-4BE3-594FAE0B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3809EA-24ED-8A18-A408-E10D1FEA909A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Objectivos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7471D-18C4-4B8E-4A7E-ABFF2C82EB01}"/>
              </a:ext>
            </a:extLst>
          </p:cNvPr>
          <p:cNvSpPr txBox="1">
            <a:spLocks/>
          </p:cNvSpPr>
          <p:nvPr/>
        </p:nvSpPr>
        <p:spPr>
          <a:xfrm>
            <a:off x="295991" y="1374111"/>
            <a:ext cx="11089031" cy="5127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36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Compreender a diferença entre gerir e liderar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36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Identificar as competências essenciais do gestor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36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Reconhecer o impacto da liderança na motivação da equipa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36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Apresentar estratégias de liderança para melhorar os resultados dos serviços</a:t>
            </a:r>
          </a:p>
        </p:txBody>
      </p:sp>
      <p:sp>
        <p:nvSpPr>
          <p:cNvPr id="4" name="Estrela de 10 Pontos 7">
            <a:extLst>
              <a:ext uri="{FF2B5EF4-FFF2-40B4-BE49-F238E27FC236}">
                <a16:creationId xmlns:a16="http://schemas.microsoft.com/office/drawing/2014/main" id="{6759540D-823C-6370-4EA4-FA914E420114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03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78119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5CCFC-A302-7AED-C7C8-A84E3DD9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6792A93-B091-8B12-9AFD-1BA5630BE098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Gestor e o lider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B7A83-084D-5497-434B-DAF8AC9CC145}"/>
              </a:ext>
            </a:extLst>
          </p:cNvPr>
          <p:cNvSpPr txBox="1">
            <a:spLocks/>
          </p:cNvSpPr>
          <p:nvPr/>
        </p:nvSpPr>
        <p:spPr>
          <a:xfrm>
            <a:off x="315212" y="5058174"/>
            <a:ext cx="11089031" cy="150607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32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Um bom gestor garante que o  trabalho seja feito e um bom líder faz com que as pessoas queiram faze lo bem.</a:t>
            </a:r>
            <a:endParaRPr lang="pt-BR" sz="32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DD7C43-92AA-C8DF-CAB5-E2D465C8E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709656"/>
              </p:ext>
            </p:extLst>
          </p:nvPr>
        </p:nvGraphicFramePr>
        <p:xfrm>
          <a:off x="403760" y="1311272"/>
          <a:ext cx="1128209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48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3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693">
                <a:tc>
                  <a:txBody>
                    <a:bodyPr/>
                    <a:lstStyle/>
                    <a:p>
                      <a:r>
                        <a:rPr lang="pt-PT" sz="3200" dirty="0"/>
                        <a:t>Gestor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Líder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693">
                <a:tc>
                  <a:txBody>
                    <a:bodyPr/>
                    <a:lstStyle/>
                    <a:p>
                      <a:r>
                        <a:rPr lang="pt-PT" sz="3200" dirty="0"/>
                        <a:t>Administra pessoas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Inspira</a:t>
                      </a:r>
                      <a:r>
                        <a:rPr lang="pt-PT" sz="3200" baseline="0" dirty="0"/>
                        <a:t> pessoas</a:t>
                      </a:r>
                      <a:endParaRPr lang="pt-PT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693">
                <a:tc>
                  <a:txBody>
                    <a:bodyPr/>
                    <a:lstStyle/>
                    <a:p>
                      <a:r>
                        <a:rPr lang="pt-PT" sz="3200" dirty="0"/>
                        <a:t>Planeia e controla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Influencia e motiva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693">
                <a:tc>
                  <a:txBody>
                    <a:bodyPr/>
                    <a:lstStyle/>
                    <a:p>
                      <a:r>
                        <a:rPr lang="pt-PT" sz="3200" dirty="0"/>
                        <a:t>Foca nas tarefas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Foca nas pessoas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693">
                <a:tc>
                  <a:txBody>
                    <a:bodyPr/>
                    <a:lstStyle/>
                    <a:p>
                      <a:r>
                        <a:rPr lang="pt-PT" sz="3200" dirty="0"/>
                        <a:t>Exige cumprimento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Desenvolve talentos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693">
                <a:tc>
                  <a:txBody>
                    <a:bodyPr/>
                    <a:lstStyle/>
                    <a:p>
                      <a:r>
                        <a:rPr lang="pt-PT" sz="3200" dirty="0"/>
                        <a:t>Resolve problemas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3200" dirty="0"/>
                        <a:t>Cria soluções em conjunto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Estrela de 10 Pontos 7">
            <a:extLst>
              <a:ext uri="{FF2B5EF4-FFF2-40B4-BE49-F238E27FC236}">
                <a16:creationId xmlns:a16="http://schemas.microsoft.com/office/drawing/2014/main" id="{E465AD92-BC39-2833-3F13-CB432111ECA5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04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819272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26C9-2475-B636-E8D3-BC15C488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C370C4-6267-34BE-A0DC-D877BADDC093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Liderança nos serviços de Saúde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8D912-D24D-CCDD-102D-39BD334F593D}"/>
              </a:ext>
            </a:extLst>
          </p:cNvPr>
          <p:cNvSpPr txBox="1">
            <a:spLocks/>
          </p:cNvSpPr>
          <p:nvPr/>
        </p:nvSpPr>
        <p:spPr>
          <a:xfrm>
            <a:off x="295991" y="1143000"/>
            <a:ext cx="11089031" cy="5714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000" b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 liderança </a:t>
            </a: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é um </a:t>
            </a:r>
            <a:r>
              <a:rPr lang="pt-BR" sz="2000" dirty="0" err="1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factor</a:t>
            </a: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essencial para garantir Serviços de saúde eficientes, seguros e centrados no utente, pois o líder orienta a equipa, promove um ambiente de colaboração e assegura que os recursos disponíveis sejam utilizados de forma estratégica para alcançar os </a:t>
            </a:r>
            <a:r>
              <a:rPr lang="pt-BR" sz="2000" dirty="0" err="1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objectivos</a:t>
            </a: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 </a:t>
            </a:r>
            <a:r>
              <a:rPr lang="pt-BR" sz="2000" b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Qualidade dos Serviços de Saúde </a:t>
            </a: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depende em grande medida da liderança que orienta a equipa, tendo em conta os seguintes pressupostos: 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Melhorar a qualidade da assistência prestada;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Motivar e desenvolver os profissionais de saúde;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Fortalecer a comunicação e o trabalho em equipa;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Gerir conflitos e promover um ambiente organizacional saudável;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Conduzir mudanças e estimular a inovação;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Aumentar a eficiência e o alcance das metas.</a:t>
            </a:r>
          </a:p>
        </p:txBody>
      </p:sp>
      <p:sp>
        <p:nvSpPr>
          <p:cNvPr id="4" name="Estrela de 10 Pontos 7">
            <a:extLst>
              <a:ext uri="{FF2B5EF4-FFF2-40B4-BE49-F238E27FC236}">
                <a16:creationId xmlns:a16="http://schemas.microsoft.com/office/drawing/2014/main" id="{BC9E8319-637B-500D-68BC-3EE9A51C4D5A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05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551854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14E2-C3E4-ACA9-5472-9EBE00D17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33F3EF-A0FB-9B49-275E-2EDC729F2BF8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Competências de um líder eficaz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DE309-221A-6D3F-2932-0FBEE2DAF35C}"/>
              </a:ext>
            </a:extLst>
          </p:cNvPr>
          <p:cNvSpPr txBox="1">
            <a:spLocks/>
          </p:cNvSpPr>
          <p:nvPr/>
        </p:nvSpPr>
        <p:spPr>
          <a:xfrm>
            <a:off x="835961" y="1227343"/>
            <a:ext cx="10042709" cy="53287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3200" b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Um líder deve desenvolver:</a:t>
            </a:r>
          </a:p>
          <a:p>
            <a:pPr algn="just" fontAlgn="ctr"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Comunicação clara;</a:t>
            </a:r>
          </a:p>
          <a:p>
            <a:pPr algn="just" fontAlgn="ctr"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Inteligência emocional;</a:t>
            </a:r>
          </a:p>
          <a:p>
            <a:pPr algn="just" fontAlgn="ctr"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Ética e Integridade;</a:t>
            </a:r>
          </a:p>
          <a:p>
            <a:pPr algn="just" fontAlgn="ctr"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Tomada de decisão;</a:t>
            </a:r>
          </a:p>
          <a:p>
            <a:pPr algn="just" fontAlgn="ctr"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Gerir conflitos;</a:t>
            </a:r>
          </a:p>
          <a:p>
            <a:pPr algn="just" fontAlgn="ctr"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Trabalho em equipa;</a:t>
            </a:r>
          </a:p>
          <a:p>
            <a:pPr algn="just" fontAlgn="ctr"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Planeamento estratégico; e</a:t>
            </a:r>
          </a:p>
          <a:p>
            <a:pPr algn="just" fontAlgn="ctr"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Capacidade de Inspirar.</a:t>
            </a:r>
          </a:p>
        </p:txBody>
      </p:sp>
      <p:sp>
        <p:nvSpPr>
          <p:cNvPr id="4" name="Estrela de 10 Pontos 7">
            <a:extLst>
              <a:ext uri="{FF2B5EF4-FFF2-40B4-BE49-F238E27FC236}">
                <a16:creationId xmlns:a16="http://schemas.microsoft.com/office/drawing/2014/main" id="{4E7A44E2-7523-F095-9B9C-FA0D634D55C8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06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74087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38B8B-520C-208C-08D7-A7234095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D911E7A-A279-F46B-9263-8F1C7339D3AE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 Os 5 pilares da liderança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80DFC-0475-EEDC-EC20-B0D5637D01D1}"/>
              </a:ext>
            </a:extLst>
          </p:cNvPr>
          <p:cNvSpPr txBox="1">
            <a:spLocks/>
          </p:cNvSpPr>
          <p:nvPr/>
        </p:nvSpPr>
        <p:spPr>
          <a:xfrm>
            <a:off x="835961" y="1227343"/>
            <a:ext cx="10042709" cy="53287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b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Visão</a:t>
            </a:r>
            <a:r>
              <a:rPr lang="pt-BR" sz="4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– Saber onde a equipa pretende chegar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b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Comunicação</a:t>
            </a:r>
            <a:r>
              <a:rPr lang="pt-BR" sz="4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– Informar, ouvir e orientar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b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Confiança</a:t>
            </a:r>
            <a:r>
              <a:rPr lang="pt-BR" sz="4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– Cumprir o que promete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b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Motivação</a:t>
            </a:r>
            <a:r>
              <a:rPr lang="pt-BR" sz="4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– Valorizar e reconhecer as pessoas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4000" b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Exemplo </a:t>
            </a:r>
            <a:r>
              <a:rPr lang="pt-BR" sz="40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– Liderar pelo comportamento</a:t>
            </a:r>
          </a:p>
        </p:txBody>
      </p:sp>
      <p:sp>
        <p:nvSpPr>
          <p:cNvPr id="4" name="Estrela de 10 Pontos 7">
            <a:extLst>
              <a:ext uri="{FF2B5EF4-FFF2-40B4-BE49-F238E27FC236}">
                <a16:creationId xmlns:a16="http://schemas.microsoft.com/office/drawing/2014/main" id="{0A462290-8F12-78E6-00A9-48382882320F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07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838588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88F9-42D2-7A5A-57DB-22F11F9B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6B2A411-AFA0-190E-3F9F-0F6E7629F4B5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 Como Inspirar Resultados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83E8E-19FE-F6F9-DFFC-1B5D568EF77C}"/>
              </a:ext>
            </a:extLst>
          </p:cNvPr>
          <p:cNvSpPr txBox="1">
            <a:spLocks/>
          </p:cNvSpPr>
          <p:nvPr/>
        </p:nvSpPr>
        <p:spPr>
          <a:xfrm>
            <a:off x="835961" y="1227343"/>
            <a:ext cx="10479736" cy="54558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3200" b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líder inspira quando: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Define </a:t>
            </a:r>
            <a:r>
              <a:rPr lang="pt-BR" sz="3200" dirty="0" err="1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objectivos</a:t>
            </a: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claros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Envolve a equipe nas decisões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Reconhece o bom desempenho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Dá feedback construtivo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Incentiva a aprendizagem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32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Resolve problemas rapidamente</a:t>
            </a:r>
          </a:p>
          <a:p>
            <a:pPr algn="just" fontAlgn="ctr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pt-BR" sz="3200" b="1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trela de 10 Pontos 7">
            <a:extLst>
              <a:ext uri="{FF2B5EF4-FFF2-40B4-BE49-F238E27FC236}">
                <a16:creationId xmlns:a16="http://schemas.microsoft.com/office/drawing/2014/main" id="{BD954D30-3A2A-E5FB-0261-D4AB879CBABD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08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4057772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015D-43BE-1D27-DF61-0EAD8048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2C234F3-9C4E-998C-C4B8-2EE6E9F0DE53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Desafios da liderança nos Serviços de Saúde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EFF80-D510-E258-F601-41855B373050}"/>
              </a:ext>
            </a:extLst>
          </p:cNvPr>
          <p:cNvSpPr txBox="1">
            <a:spLocks/>
          </p:cNvSpPr>
          <p:nvPr/>
        </p:nvSpPr>
        <p:spPr>
          <a:xfrm>
            <a:off x="537882" y="1100199"/>
            <a:ext cx="10777815" cy="54558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Escassez de recursos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Sobrecarga de trabalho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Resistência à mudanças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Conflitos entre profissionais,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Pressão por resultados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Gestão das expectativas dos utentes</a:t>
            </a:r>
          </a:p>
          <a:p>
            <a:pPr marL="0" indent="0" algn="just" fontAlgn="ctr">
              <a:lnSpc>
                <a:spcPct val="150000"/>
              </a:lnSpc>
              <a:buNone/>
            </a:pPr>
            <a:r>
              <a:rPr lang="pt-BR" sz="2800" b="1" i="1" dirty="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 Lider transforma desafios em oportunidades de melhoria</a:t>
            </a:r>
          </a:p>
        </p:txBody>
      </p:sp>
      <p:sp>
        <p:nvSpPr>
          <p:cNvPr id="4" name="Estrela de 10 Pontos 7">
            <a:extLst>
              <a:ext uri="{FF2B5EF4-FFF2-40B4-BE49-F238E27FC236}">
                <a16:creationId xmlns:a16="http://schemas.microsoft.com/office/drawing/2014/main" id="{4B2EF4A9-6DE2-38A1-EDFA-1DB0A9EC5580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09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445213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5F8FF-A8F4-AA53-C231-AC1AB9A93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22F1272-4997-5966-F817-C4A8030ECEFB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Estratégias para uma liderança de impacto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8AAD6-C689-42B8-A039-E07ECF9D3F84}"/>
              </a:ext>
            </a:extLst>
          </p:cNvPr>
          <p:cNvSpPr txBox="1">
            <a:spLocks/>
          </p:cNvSpPr>
          <p:nvPr/>
        </p:nvSpPr>
        <p:spPr>
          <a:xfrm>
            <a:off x="537882" y="1100199"/>
            <a:ext cx="10777815" cy="54558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Comunicar frequentemente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Delegar responsabilidades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Promover reuniões produtivas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Incentivar inovação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Resolver conflitos com imparcialidade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Valorizar pequenas conquistas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Dar exemplo de disciplina e compromisso</a:t>
            </a:r>
            <a:endParaRPr lang="pt-BR" sz="2800" dirty="0">
              <a:solidFill>
                <a:srgbClr val="001D35"/>
              </a:solidFill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trela de 10 Pontos 7">
            <a:extLst>
              <a:ext uri="{FF2B5EF4-FFF2-40B4-BE49-F238E27FC236}">
                <a16:creationId xmlns:a16="http://schemas.microsoft.com/office/drawing/2014/main" id="{48491067-977E-95E3-2759-7FFD6DC9E314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10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551515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CF864-F870-5CFC-356D-D1C629E3B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2A2CF8-C532-2432-E266-1D586826D4AD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Perfil do líder que as equipas precisam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DE9F-5A08-239B-5B48-4C96CDE5022C}"/>
              </a:ext>
            </a:extLst>
          </p:cNvPr>
          <p:cNvSpPr txBox="1">
            <a:spLocks/>
          </p:cNvSpPr>
          <p:nvPr/>
        </p:nvSpPr>
        <p:spPr>
          <a:xfrm>
            <a:off x="537882" y="1100199"/>
            <a:ext cx="10777815" cy="54558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Escuta antes de decidir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Respeita as pessoas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Assume responsabilidades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Reconhece os erros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Desenvolve novos lideres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Trabalha com transparência</a:t>
            </a:r>
          </a:p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28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Mantem o foco nos resultados.</a:t>
            </a:r>
          </a:p>
        </p:txBody>
      </p:sp>
      <p:sp>
        <p:nvSpPr>
          <p:cNvPr id="4" name="Estrela de 10 Pontos 7">
            <a:extLst>
              <a:ext uri="{FF2B5EF4-FFF2-40B4-BE49-F238E27FC236}">
                <a16:creationId xmlns:a16="http://schemas.microsoft.com/office/drawing/2014/main" id="{6EF9AF73-B775-5ADA-C3AF-C6E82C09097C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394038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79F0E-5931-1E12-6823-5697B6B7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3C15A3-DA4C-8815-6F07-726E603E087C}"/>
              </a:ext>
            </a:extLst>
          </p:cNvPr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>
                <a:solidFill>
                  <a:schemeClr val="bg1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Conclusão</a:t>
            </a:r>
            <a:endParaRPr lang="pt-BR" sz="4000" b="1" dirty="0">
              <a:solidFill>
                <a:schemeClr val="bg1"/>
              </a:solidFill>
              <a:latin typeface="Arial Narrow" panose="020B0606020202030204" pitchFamily="34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2FBB0-F60B-3604-C565-F3350C8F700A}"/>
              </a:ext>
            </a:extLst>
          </p:cNvPr>
          <p:cNvSpPr txBox="1">
            <a:spLocks/>
          </p:cNvSpPr>
          <p:nvPr/>
        </p:nvSpPr>
        <p:spPr>
          <a:xfrm>
            <a:off x="537882" y="1100199"/>
            <a:ext cx="10777815" cy="54558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3600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 liderança é uma competência indispensável para o gestor que pretende alcançar resultados sustentáveis e promover a excelência institucional. Mais do que administrar recursos e processos, o líder trabalha para criar um ambiente favorável ao compromisso, inovação e ao trabalho em equipa. Ao investir nessas competências, o gestor torna se agente de transformação capaz de mobilizar as equipas para o alcance dos objetivos.</a:t>
            </a:r>
          </a:p>
        </p:txBody>
      </p:sp>
      <p:sp>
        <p:nvSpPr>
          <p:cNvPr id="4" name="Estrela de 10 Pontos 7">
            <a:extLst>
              <a:ext uri="{FF2B5EF4-FFF2-40B4-BE49-F238E27FC236}">
                <a16:creationId xmlns:a16="http://schemas.microsoft.com/office/drawing/2014/main" id="{17A26D1F-0840-F101-749A-E5521AC83E88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12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3611846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9F0B-34B3-EF4C-136B-14B034112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DA569-FCDA-11DF-C951-E7C172B905A5}"/>
              </a:ext>
            </a:extLst>
          </p:cNvPr>
          <p:cNvSpPr txBox="1">
            <a:spLocks/>
          </p:cNvSpPr>
          <p:nvPr/>
        </p:nvSpPr>
        <p:spPr>
          <a:xfrm>
            <a:off x="403412" y="701077"/>
            <a:ext cx="10777815" cy="54558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sz="6600" b="1" i="1">
                <a:solidFill>
                  <a:srgbClr val="001D35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Liderar é servir, inspirar e mudar pessoas para transformar os serviços de saúde.</a:t>
            </a:r>
          </a:p>
        </p:txBody>
      </p:sp>
      <p:sp>
        <p:nvSpPr>
          <p:cNvPr id="4" name="Estrela de 10 Pontos 7">
            <a:extLst>
              <a:ext uri="{FF2B5EF4-FFF2-40B4-BE49-F238E27FC236}">
                <a16:creationId xmlns:a16="http://schemas.microsoft.com/office/drawing/2014/main" id="{83ABC2B9-E4DF-445A-27EE-0297AA9E2D3B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13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064667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women_group_clapping_500_wht_12480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9077" y="3394137"/>
            <a:ext cx="2960593" cy="2649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325053" y="347149"/>
            <a:ext cx="9029181" cy="304698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9600" b="1" dirty="0" err="1">
                <a:solidFill>
                  <a:srgbClr val="000000"/>
                </a:solidFill>
                <a:latin typeface="Juice ITC" panose="04040403040A02020202" pitchFamily="82" charset="0"/>
              </a:rPr>
              <a:t>Muito</a:t>
            </a:r>
            <a:r>
              <a:rPr lang="en-US" altLang="en-US" sz="9600" b="1" dirty="0">
                <a:solidFill>
                  <a:srgbClr val="000000"/>
                </a:solidFill>
                <a:latin typeface="Juice ITC" panose="04040403040A02020202" pitchFamily="82" charset="0"/>
              </a:rPr>
              <a:t> </a:t>
            </a:r>
            <a:r>
              <a:rPr lang="en-US" altLang="en-US" sz="9600" b="1" dirty="0" err="1">
                <a:solidFill>
                  <a:srgbClr val="000000"/>
                </a:solidFill>
                <a:latin typeface="Juice ITC" panose="04040403040A02020202" pitchFamily="82" charset="0"/>
              </a:rPr>
              <a:t>Obrigado</a:t>
            </a:r>
            <a:endParaRPr lang="en-US" altLang="en-US" sz="9600" b="1" dirty="0">
              <a:solidFill>
                <a:srgbClr val="000000"/>
              </a:solidFill>
              <a:latin typeface="Juice ITC" panose="04040403040A02020202" pitchFamily="82" charset="0"/>
            </a:endParaRPr>
          </a:p>
          <a:p>
            <a:pPr algn="ctr"/>
            <a:r>
              <a:rPr lang="en-US" altLang="en-US" sz="9600" b="1" dirty="0" err="1">
                <a:solidFill>
                  <a:srgbClr val="000000"/>
                </a:solidFill>
                <a:latin typeface="Juice ITC" panose="04040403040A02020202" pitchFamily="82" charset="0"/>
              </a:rPr>
              <a:t>Khanimambo</a:t>
            </a:r>
            <a:endParaRPr lang="en-US" altLang="en-US" sz="9600" b="1" dirty="0">
              <a:solidFill>
                <a:srgbClr val="000000"/>
              </a:solidFill>
              <a:latin typeface="Juice ITC" panose="04040403040A02020202" pitchFamily="82" charset="0"/>
            </a:endParaRPr>
          </a:p>
        </p:txBody>
      </p:sp>
      <p:sp>
        <p:nvSpPr>
          <p:cNvPr id="5" name="Rectangle 1"/>
          <p:cNvSpPr/>
          <p:nvPr/>
        </p:nvSpPr>
        <p:spPr>
          <a:xfrm>
            <a:off x="69851" y="6049186"/>
            <a:ext cx="110777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i="1" dirty="0">
                <a:solidFill>
                  <a:srgbClr val="00B050"/>
                </a:solidFill>
                <a:latin typeface="Arial Narrow" panose="020B0606020202030204" pitchFamily="34" charset="0"/>
              </a:rPr>
              <a:t>Único Plano, Único Orçamento, Única Monitoria e Avaliação</a:t>
            </a:r>
          </a:p>
        </p:txBody>
      </p:sp>
      <p:sp>
        <p:nvSpPr>
          <p:cNvPr id="7" name="Estrela de 10 Pontos 7">
            <a:extLst>
              <a:ext uri="{FF2B5EF4-FFF2-40B4-BE49-F238E27FC236}">
                <a16:creationId xmlns:a16="http://schemas.microsoft.com/office/drawing/2014/main" id="{F66A1063-EAFC-68F7-BE0A-545C5EC1EC81}"/>
              </a:ext>
            </a:extLst>
          </p:cNvPr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14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5741</TotalTime>
  <Words>738</Words>
  <Application>Microsoft Office PowerPoint</Application>
  <PresentationFormat>Widescreen</PresentationFormat>
  <Paragraphs>117</Paragraphs>
  <Slides>15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6" baseType="lpstr">
      <vt:lpstr>Arial</vt:lpstr>
      <vt:lpstr>Arial Narrow</vt:lpstr>
      <vt:lpstr>Bodoni MT</vt:lpstr>
      <vt:lpstr>Calibri</vt:lpstr>
      <vt:lpstr>Calibri Light</vt:lpstr>
      <vt:lpstr>Courier New</vt:lpstr>
      <vt:lpstr>Juice ITC</vt:lpstr>
      <vt:lpstr>Times New Roman</vt:lpstr>
      <vt:lpstr>Wingdings</vt:lpstr>
      <vt:lpstr>Wingdings 3</vt:lpstr>
      <vt:lpstr>Facet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Carlitos José Cumbane</cp:lastModifiedBy>
  <cp:revision>1752</cp:revision>
  <dcterms:created xsi:type="dcterms:W3CDTF">2022-05-17T21:12:00Z</dcterms:created>
  <dcterms:modified xsi:type="dcterms:W3CDTF">2026-06-30T14:19:56Z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63BD0A64F7A24D1BAA045F58D81EDD59_13</vt:lpwstr>
  </property>
  <property fmtid="{D5CDD505-2E9C-101B-9397-08002B2CF9AE}" pid="3" name="KSOProductBuildVer">
    <vt:lpwstr>1033-12.2.0.21931</vt:lpwstr>
  </property>
</Properties>
</file>